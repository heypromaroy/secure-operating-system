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3" r:id="rId4"/>
    <p:sldId id="264" r:id="rId5"/>
    <p:sldId id="258" r:id="rId6"/>
    <p:sldId id="259" r:id="rId7"/>
    <p:sldId id="260" r:id="rId8"/>
    <p:sldId id="261" r:id="rId9"/>
    <p:sldId id="262"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31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05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'My name is Proma Roy. I want to tell you what I tried, what stopped me, and what the data actually showed. My question was simple: can modern malware make a Windows or Linux system completely blind to itself? And if it can — can we still catch it? The answer surprised me three times.'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 'I chose this because it is already happening in real attacks. MITRE classifies it T1562.006. The Lazarus Group used it in 2022 with FudModule. Remcos RAT applies the same patch before every run. And CVE-2021-21551, a signed Dell driver flaw, is the documented path attackers use to reach the kernel before they silence the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0:45–1:05  |  ~20 sec
Say: 'Three environments. My Windows 11 PC was the host — that is where I wrote and compiled everything. I had a separate Windows 11 virtual machine running as the target. That VM is where I loaded the kernel driver, ran the ETW tamper tool, and did all the actual penetration testing. Getting that VM to cooperate was the most painful and frustrating part of the entire project — the WinDbg connection kept failing, the driver refused to load, and when it finally did, it crashed the system. The Ubuntu VM on VirtualBox was the Linux side. Each environment had a specific role, and all three had to work together.'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1:05–1:35  |  ~30 sec
Walk through phases 1–6 in one phrase each. Do not go into code details here. Then: 'On Linux I replicated the same structure — auditd for the primary stream, a bpftrace eBPF program hooked directly to the execve syscall tracepoint as the independent view. The live demo ran on May 5th, 2026 and confirmed the blind spot.' Then name the tools briefly.
Do NOT linger here. Keep moving.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0:45–1:25 | 'I built a tamper tool that found EtwEventWrite — the function Windows uses to log every security event. Think of it as the wire connecting the security cameras to the recording room. I changed one byte. 0x40 became 0xC3 — a RET instruction that makes the function return immediately without logging anything. I expected silence. Instead Windows returned error code 0x00000027 — a code I had never seen in any documentation. After research I found it is an internal integrity check. The OS detected that its own logging function had been tampered with. The reason it could fight back: I was operating at Ring 3, user mode, where normal applications run. To fully blind ETW the way Lazarus Group does, you need Ring 0 — kernel level. That boundary exists specifically to stop what I was trying to do. First surprise: Windows 11 is actively defending itself in ways that are not publicly documented.'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1:25–1:55 | 'So I went deeper. I wrote PhantomGuard — a kernel driver that registers directly with the Windows kernel to monitor every process, completely independent of ETW. I ran this on a separate Windows 11 virtual machine, which became the most painful part of this whole project. Three environments: my host PC for development, the Windows VM as the actual target, and the Ubuntu VM for Linux. Getting the Windows VM working took four days. The first time I loaded the driver it crashed the entire system. Blue screen. A DoubleFault. Cause: one wrong function pointer type. In kernel development there is no warning and no second chance. I fixed the callback signature, reloaded it. This time PhantomGuard captured every process on the system — completely independent of ETW, completely unaffected by my attack. Second surprise: the most important lesson in kernel development is not how to write the code. It is how to survive getting it wrong.'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1:55–2:25 | 'When I ran the full cross-correlation — ETW blinded, kernel driver running, Python correlator comparing both streams — I found a 1.13% detection gap. Two processes disappeared from ETW that the kernel driver still saw: AdobeARM.exe and DataExchangeHost.exe. The attack worked — but only partially. Then the timing analysis showed something I completely did not expect. I measured scheduling jitter during normal operation versus during tampering. I expected tampering to make the system chaotic — more noise, less consistency. The opposite happened. Jitter decreased during tampering. The system became more consistent, because patching EtwEventWrite with a RET instruction meant the kernel was skipping all the logging work — less work per cycle, tighter scheduling. Third surprise: blinding the OS made it more efficient. And that efficiency change is itself detectable — a timing signature measurable without any kernel privileges at 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 'I then replicated the same architecture on Linux. On Linux the attack is cleaner — one root command, auditctl -e 0, silences auditd completely. Not 1.13%. Total silence. I confirmed this live on May 5th at 12:56:14. But the eBPF monitor hooked directly to the kernel tracepoint kept capturing every single process through the entire two minute thirty-eight second blind spot without interruption. Different OS, different kernel — same architectural result. The independent kernel-level sensor saw everything the primary stream missed on both platforms.'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 'The honest result: on Windows I could not achieve a full blind from Ring 3. 1.13% not 100%. To blind ETW globally the way Lazarus Group does, you need a signed kernel driver with Ring 0 access and Microsoft authorization. That boundary held. The next gap is macOS. I poked at it briefly — hit a wall immediately. The Endpoint Security framework and SIP make it a completely different research problem. That is summer 2026. Full code and report — scan the QR code. Thank you.' — STOP. Nothing after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ithub.com/HeyPromaRoy/Secure-Operating-system.git" TargetMode="Externa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487779"/>
            <a:ext cx="45719" cy="3452586"/>
          </a:xfrm>
          <a:prstGeom prst="rect">
            <a:avLst/>
          </a:prstGeom>
          <a:solidFill>
            <a:srgbClr val="00D4FF"/>
          </a:solidFill>
          <a:ln w="12700">
            <a:solidFill>
              <a:srgbClr val="00D4FF"/>
            </a:solidFill>
            <a:prstDash val="solid"/>
          </a:ln>
        </p:spPr>
        <p:txBody>
          <a:bodyPr/>
          <a:lstStyle/>
          <a:p>
            <a:endParaRPr lang="en-US"/>
          </a:p>
        </p:txBody>
      </p:sp>
      <p:sp>
        <p:nvSpPr>
          <p:cNvPr id="4" name="Text 1"/>
          <p:cNvSpPr/>
          <p:nvPr/>
        </p:nvSpPr>
        <p:spPr>
          <a:xfrm>
            <a:off x="566928" y="487779"/>
            <a:ext cx="4572000" cy="347472"/>
          </a:xfrm>
          <a:prstGeom prst="rect">
            <a:avLst/>
          </a:prstGeom>
          <a:noFill/>
          <a:ln/>
        </p:spPr>
        <p:txBody>
          <a:bodyPr wrap="square" lIns="0" tIns="0" rIns="0" bIns="0" rtlCol="0" anchor="ctr"/>
          <a:lstStyle/>
          <a:p>
            <a:pPr marL="0" indent="0">
              <a:buNone/>
            </a:pPr>
            <a:r>
              <a:rPr lang="en-US" sz="1200" b="1" kern="0" spc="1000" dirty="0">
                <a:solidFill>
                  <a:srgbClr val="00D4FF"/>
                </a:solidFill>
                <a:latin typeface="Trebuchet MS" pitchFamily="34" charset="0"/>
                <a:ea typeface="Trebuchet MS" pitchFamily="34" charset="-122"/>
                <a:cs typeface="Trebuchet MS" pitchFamily="34" charset="-120"/>
              </a:rPr>
              <a:t>PROJECT</a:t>
            </a:r>
            <a:endParaRPr lang="en-US" sz="1200" dirty="0"/>
          </a:p>
        </p:txBody>
      </p:sp>
      <p:sp>
        <p:nvSpPr>
          <p:cNvPr id="6" name="Text 3"/>
          <p:cNvSpPr/>
          <p:nvPr/>
        </p:nvSpPr>
        <p:spPr>
          <a:xfrm>
            <a:off x="566928" y="2487168"/>
            <a:ext cx="5303520" cy="502920"/>
          </a:xfrm>
          <a:prstGeom prst="rect">
            <a:avLst/>
          </a:prstGeom>
          <a:noFill/>
          <a:ln/>
        </p:spPr>
        <p:txBody>
          <a:bodyPr wrap="square" lIns="0" tIns="0" rIns="0" bIns="0" rtlCol="0" anchor="ctr"/>
          <a:lstStyle/>
          <a:p>
            <a:pPr marL="0" indent="0">
              <a:buNone/>
            </a:pPr>
            <a:r>
              <a:rPr lang="en-US" sz="1400" i="1" dirty="0">
                <a:solidFill>
                  <a:srgbClr val="B8D4E8"/>
                </a:solidFill>
                <a:latin typeface="Calibri" pitchFamily="34" charset="0"/>
                <a:ea typeface="Calibri" pitchFamily="34" charset="-122"/>
                <a:cs typeface="Calibri" pitchFamily="34" charset="-120"/>
              </a:rPr>
              <a:t>Can an OS be made blind to itself — and can we still catch it?</a:t>
            </a:r>
            <a:endParaRPr lang="en-US" sz="1400" dirty="0"/>
          </a:p>
        </p:txBody>
      </p:sp>
      <p:sp>
        <p:nvSpPr>
          <p:cNvPr id="7" name="Shape 4"/>
          <p:cNvSpPr/>
          <p:nvPr/>
        </p:nvSpPr>
        <p:spPr>
          <a:xfrm>
            <a:off x="566928" y="3090672"/>
            <a:ext cx="4754880" cy="18288"/>
          </a:xfrm>
          <a:prstGeom prst="rect">
            <a:avLst/>
          </a:prstGeom>
          <a:solidFill>
            <a:srgbClr val="007A99"/>
          </a:solidFill>
          <a:ln w="12700">
            <a:solidFill>
              <a:srgbClr val="007A99"/>
            </a:solidFill>
            <a:prstDash val="solid"/>
          </a:ln>
        </p:spPr>
        <p:txBody>
          <a:bodyPr/>
          <a:lstStyle/>
          <a:p>
            <a:endParaRPr lang="en-US"/>
          </a:p>
        </p:txBody>
      </p:sp>
      <p:sp>
        <p:nvSpPr>
          <p:cNvPr id="8" name="Text 5"/>
          <p:cNvSpPr/>
          <p:nvPr/>
        </p:nvSpPr>
        <p:spPr>
          <a:xfrm>
            <a:off x="566928" y="3182112"/>
            <a:ext cx="5120640" cy="256032"/>
          </a:xfrm>
          <a:prstGeom prst="rect">
            <a:avLst/>
          </a:prstGeom>
          <a:noFill/>
          <a:ln/>
        </p:spPr>
        <p:txBody>
          <a:bodyPr wrap="square" lIns="0" tIns="0" rIns="0" bIns="0" rtlCol="0" anchor="ctr"/>
          <a:lstStyle/>
          <a:p>
            <a:r>
              <a:rPr lang="en-US" sz="1100" dirty="0">
                <a:solidFill>
                  <a:srgbClr val="7A9DB8"/>
                </a:solidFill>
                <a:latin typeface="Calibri" pitchFamily="34" charset="0"/>
                <a:ea typeface="Calibri" pitchFamily="34" charset="-122"/>
                <a:cs typeface="Calibri" pitchFamily="34" charset="-120"/>
              </a:rPr>
              <a:t>CSC I0420 — Secure Operating Systems  ·  City College of New York  ·  Spring 2026</a:t>
            </a:r>
            <a:endParaRPr lang="en-US" sz="1100" dirty="0"/>
          </a:p>
        </p:txBody>
      </p:sp>
      <p:sp>
        <p:nvSpPr>
          <p:cNvPr id="9" name="Text 6"/>
          <p:cNvSpPr/>
          <p:nvPr/>
        </p:nvSpPr>
        <p:spPr>
          <a:xfrm>
            <a:off x="566928" y="3456432"/>
            <a:ext cx="5120640" cy="256032"/>
          </a:xfrm>
          <a:prstGeom prst="rect">
            <a:avLst/>
          </a:prstGeom>
          <a:noFill/>
          <a:ln/>
        </p:spPr>
        <p:txBody>
          <a:bodyPr wrap="square" lIns="0" tIns="0" rIns="0" bIns="0" rtlCol="0" anchor="ctr"/>
          <a:lstStyle/>
          <a:p>
            <a:pPr marL="0" indent="0">
              <a:buNone/>
            </a:pPr>
            <a:r>
              <a:rPr lang="en-US" sz="1100" dirty="0">
                <a:solidFill>
                  <a:srgbClr val="7A9DB8"/>
                </a:solidFill>
                <a:latin typeface="Calibri" pitchFamily="34" charset="0"/>
                <a:ea typeface="Calibri" pitchFamily="34" charset="-122"/>
                <a:cs typeface="Calibri" pitchFamily="34" charset="-120"/>
              </a:rPr>
              <a:t>Presenter: Proma Roy</a:t>
            </a:r>
            <a:endParaRPr lang="en-US" sz="1100" dirty="0"/>
          </a:p>
        </p:txBody>
      </p:sp>
      <p:sp>
        <p:nvSpPr>
          <p:cNvPr id="10" name="Shape 7"/>
          <p:cNvSpPr/>
          <p:nvPr/>
        </p:nvSpPr>
        <p:spPr>
          <a:xfrm>
            <a:off x="566928" y="4160520"/>
            <a:ext cx="1325880" cy="274320"/>
          </a:xfrm>
          <a:prstGeom prst="rect">
            <a:avLst/>
          </a:prstGeom>
          <a:solidFill>
            <a:srgbClr val="0E1E3A"/>
          </a:solidFill>
          <a:ln w="12700">
            <a:solidFill>
              <a:srgbClr val="007A99"/>
            </a:solidFill>
            <a:prstDash val="solid"/>
          </a:ln>
        </p:spPr>
        <p:txBody>
          <a:bodyPr/>
          <a:lstStyle/>
          <a:p>
            <a:endParaRPr lang="en-US"/>
          </a:p>
        </p:txBody>
      </p:sp>
      <p:sp>
        <p:nvSpPr>
          <p:cNvPr id="11" name="Text 8"/>
          <p:cNvSpPr/>
          <p:nvPr/>
        </p:nvSpPr>
        <p:spPr>
          <a:xfrm>
            <a:off x="566928" y="4160520"/>
            <a:ext cx="1325880" cy="274320"/>
          </a:xfrm>
          <a:prstGeom prst="rect">
            <a:avLst/>
          </a:prstGeom>
          <a:noFill/>
          <a:ln/>
        </p:spPr>
        <p:txBody>
          <a:bodyPr wrap="square" lIns="0" tIns="0" rIns="0" bIns="0" rtlCol="0" anchor="ctr"/>
          <a:lstStyle/>
          <a:p>
            <a:pPr marL="0" indent="0" algn="ctr">
              <a:buNone/>
            </a:pPr>
            <a:r>
              <a:rPr lang="en-US" sz="850" dirty="0">
                <a:solidFill>
                  <a:srgbClr val="00D4FF"/>
                </a:solidFill>
                <a:latin typeface="Consolas" pitchFamily="34" charset="0"/>
                <a:ea typeface="Consolas" pitchFamily="34" charset="-122"/>
                <a:cs typeface="Consolas" pitchFamily="34" charset="-120"/>
              </a:rPr>
              <a:t>MITRE T1562.006</a:t>
            </a:r>
            <a:endParaRPr lang="en-US" sz="850" dirty="0"/>
          </a:p>
        </p:txBody>
      </p:sp>
      <p:sp>
        <p:nvSpPr>
          <p:cNvPr id="12" name="Shape 9"/>
          <p:cNvSpPr/>
          <p:nvPr/>
        </p:nvSpPr>
        <p:spPr>
          <a:xfrm>
            <a:off x="2103120" y="4160520"/>
            <a:ext cx="1250899" cy="274320"/>
          </a:xfrm>
          <a:prstGeom prst="rect">
            <a:avLst/>
          </a:prstGeom>
          <a:solidFill>
            <a:srgbClr val="0E1E3A"/>
          </a:solidFill>
          <a:ln w="12700">
            <a:solidFill>
              <a:srgbClr val="007A99"/>
            </a:solidFill>
            <a:prstDash val="solid"/>
          </a:ln>
        </p:spPr>
        <p:txBody>
          <a:bodyPr/>
          <a:lstStyle/>
          <a:p>
            <a:endParaRPr lang="en-US"/>
          </a:p>
        </p:txBody>
      </p:sp>
      <p:sp>
        <p:nvSpPr>
          <p:cNvPr id="13" name="Text 10"/>
          <p:cNvSpPr/>
          <p:nvPr/>
        </p:nvSpPr>
        <p:spPr>
          <a:xfrm>
            <a:off x="2103120" y="4160520"/>
            <a:ext cx="1250899" cy="274320"/>
          </a:xfrm>
          <a:prstGeom prst="rect">
            <a:avLst/>
          </a:prstGeom>
          <a:noFill/>
          <a:ln/>
        </p:spPr>
        <p:txBody>
          <a:bodyPr wrap="square" lIns="0" tIns="0" rIns="0" bIns="0" rtlCol="0" anchor="ctr"/>
          <a:lstStyle/>
          <a:p>
            <a:pPr marL="0" indent="0" algn="ctr">
              <a:buNone/>
            </a:pPr>
            <a:r>
              <a:rPr lang="en-US" sz="850" dirty="0">
                <a:solidFill>
                  <a:srgbClr val="FFD166"/>
                </a:solidFill>
                <a:latin typeface="Consolas" pitchFamily="34" charset="0"/>
                <a:ea typeface="Consolas" pitchFamily="34" charset="-122"/>
                <a:cs typeface="Consolas" pitchFamily="34" charset="-120"/>
              </a:rPr>
              <a:t>CVE-2021-21551</a:t>
            </a:r>
            <a:endParaRPr lang="en-US" sz="850" dirty="0"/>
          </a:p>
        </p:txBody>
      </p:sp>
      <p:sp>
        <p:nvSpPr>
          <p:cNvPr id="14" name="Shape 11"/>
          <p:cNvSpPr/>
          <p:nvPr/>
        </p:nvSpPr>
        <p:spPr>
          <a:xfrm>
            <a:off x="3657600" y="4160520"/>
            <a:ext cx="1325880" cy="274320"/>
          </a:xfrm>
          <a:prstGeom prst="rect">
            <a:avLst/>
          </a:prstGeom>
          <a:solidFill>
            <a:srgbClr val="0E1E3A"/>
          </a:solidFill>
          <a:ln w="12700">
            <a:solidFill>
              <a:srgbClr val="007A99"/>
            </a:solidFill>
            <a:prstDash val="solid"/>
          </a:ln>
        </p:spPr>
        <p:txBody>
          <a:bodyPr/>
          <a:lstStyle/>
          <a:p>
            <a:endParaRPr lang="en-US"/>
          </a:p>
        </p:txBody>
      </p:sp>
      <p:sp>
        <p:nvSpPr>
          <p:cNvPr id="15" name="Text 12"/>
          <p:cNvSpPr/>
          <p:nvPr/>
        </p:nvSpPr>
        <p:spPr>
          <a:xfrm>
            <a:off x="3657600" y="4160520"/>
            <a:ext cx="1325880" cy="274320"/>
          </a:xfrm>
          <a:prstGeom prst="rect">
            <a:avLst/>
          </a:prstGeom>
          <a:noFill/>
          <a:ln/>
        </p:spPr>
        <p:txBody>
          <a:bodyPr wrap="square" lIns="0" tIns="0" rIns="0" bIns="0" rtlCol="0" anchor="ctr"/>
          <a:lstStyle/>
          <a:p>
            <a:pPr marL="0" indent="0" algn="ctr">
              <a:buNone/>
            </a:pPr>
            <a:r>
              <a:rPr lang="en-US" sz="850" dirty="0">
                <a:solidFill>
                  <a:srgbClr val="FF6B35"/>
                </a:solidFill>
                <a:latin typeface="Consolas" pitchFamily="34" charset="0"/>
                <a:ea typeface="Consolas" pitchFamily="34" charset="-122"/>
                <a:cs typeface="Consolas" pitchFamily="34" charset="-120"/>
              </a:rPr>
              <a:t>Three Surprises</a:t>
            </a:r>
            <a:endParaRPr lang="en-US" sz="850" dirty="0"/>
          </a:p>
        </p:txBody>
      </p:sp>
      <p:pic>
        <p:nvPicPr>
          <p:cNvPr id="16" name="Image 0" descr="preencoded.png"/>
          <p:cNvPicPr>
            <a:picLocks noChangeAspect="1"/>
          </p:cNvPicPr>
          <p:nvPr/>
        </p:nvPicPr>
        <p:blipFill>
          <a:blip r:embed="rId3"/>
          <a:stretch>
            <a:fillRect/>
          </a:stretch>
        </p:blipFill>
        <p:spPr>
          <a:xfrm>
            <a:off x="6400800" y="868680"/>
            <a:ext cx="2286000" cy="2286000"/>
          </a:xfrm>
          <a:prstGeom prst="rect">
            <a:avLst/>
          </a:prstGeom>
        </p:spPr>
      </p:pic>
      <p:sp>
        <p:nvSpPr>
          <p:cNvPr id="17" name="Shape 13"/>
          <p:cNvSpPr/>
          <p:nvPr/>
        </p:nvSpPr>
        <p:spPr>
          <a:xfrm>
            <a:off x="6766560" y="3291840"/>
            <a:ext cx="2011680" cy="914"/>
          </a:xfrm>
          <a:prstGeom prst="line">
            <a:avLst/>
          </a:prstGeom>
          <a:noFill/>
          <a:ln w="10160">
            <a:solidFill>
              <a:srgbClr val="007A99"/>
            </a:solidFill>
            <a:prstDash val="dash"/>
          </a:ln>
        </p:spPr>
        <p:txBody>
          <a:bodyPr/>
          <a:lstStyle/>
          <a:p>
            <a:endParaRPr lang="en-US"/>
          </a:p>
        </p:txBody>
      </p:sp>
      <p:sp>
        <p:nvSpPr>
          <p:cNvPr id="18" name="Shape 14"/>
          <p:cNvSpPr/>
          <p:nvPr/>
        </p:nvSpPr>
        <p:spPr>
          <a:xfrm>
            <a:off x="6309360" y="3657600"/>
            <a:ext cx="2651760" cy="914"/>
          </a:xfrm>
          <a:prstGeom prst="line">
            <a:avLst/>
          </a:prstGeom>
          <a:noFill/>
          <a:ln w="10160">
            <a:solidFill>
              <a:srgbClr val="007A99"/>
            </a:solidFill>
            <a:prstDash val="dash"/>
          </a:ln>
        </p:spPr>
        <p:txBody>
          <a:bodyPr/>
          <a:lstStyle/>
          <a:p>
            <a:endParaRPr lang="en-US"/>
          </a:p>
        </p:txBody>
      </p:sp>
      <p:sp>
        <p:nvSpPr>
          <p:cNvPr id="2" name="Text 2">
            <a:extLst>
              <a:ext uri="{FF2B5EF4-FFF2-40B4-BE49-F238E27FC236}">
                <a16:creationId xmlns:a16="http://schemas.microsoft.com/office/drawing/2014/main" id="{754F36D5-B163-2DEF-6AC2-B13819BCE348}"/>
              </a:ext>
            </a:extLst>
          </p:cNvPr>
          <p:cNvSpPr/>
          <p:nvPr/>
        </p:nvSpPr>
        <p:spPr>
          <a:xfrm>
            <a:off x="530352" y="704759"/>
            <a:ext cx="5157216" cy="1723098"/>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A Cross-Platform Case Study of OS Telemetry Evasion and Kernel-Resident Detection on Windows 11 and Ubuntu</a:t>
            </a:r>
            <a:endParaRPr lang="en-US" sz="2400" dirty="0"/>
          </a:p>
        </p:txBody>
      </p:sp>
      <p:sp>
        <p:nvSpPr>
          <p:cNvPr id="20" name="Text 6">
            <a:extLst>
              <a:ext uri="{FF2B5EF4-FFF2-40B4-BE49-F238E27FC236}">
                <a16:creationId xmlns:a16="http://schemas.microsoft.com/office/drawing/2014/main" id="{AFBF9813-8DD4-DC4E-880A-0D3B5F940033}"/>
              </a:ext>
            </a:extLst>
          </p:cNvPr>
          <p:cNvSpPr/>
          <p:nvPr/>
        </p:nvSpPr>
        <p:spPr>
          <a:xfrm>
            <a:off x="559937" y="3684333"/>
            <a:ext cx="5120640" cy="256032"/>
          </a:xfrm>
          <a:prstGeom prst="rect">
            <a:avLst/>
          </a:prstGeom>
          <a:noFill/>
          <a:ln/>
        </p:spPr>
        <p:txBody>
          <a:bodyPr wrap="square" lIns="0" tIns="0" rIns="0" bIns="0" rtlCol="0" anchor="ctr"/>
          <a:lstStyle/>
          <a:p>
            <a:pPr marL="0" indent="0">
              <a:buNone/>
            </a:pPr>
            <a:r>
              <a:rPr lang="en-US" sz="1100" dirty="0">
                <a:solidFill>
                  <a:srgbClr val="7A9DB8"/>
                </a:solidFill>
                <a:latin typeface="Calibri" pitchFamily="34" charset="0"/>
                <a:ea typeface="Calibri" pitchFamily="34" charset="-122"/>
                <a:cs typeface="Calibri" pitchFamily="34" charset="-120"/>
              </a:rPr>
              <a:t>Presenting to: Joseph Soryal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00D4FF"/>
          </a:solidFill>
          <a:ln w="12700">
            <a:solidFill>
              <a:srgbClr val="00D4FF"/>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a:solidFill>
                  <a:srgbClr val="FFFFFF"/>
                </a:solidFill>
                <a:latin typeface="Trebuchet MS" pitchFamily="34" charset="0"/>
                <a:ea typeface="Trebuchet MS" pitchFamily="34" charset="-122"/>
                <a:cs typeface="Trebuchet MS" pitchFamily="34" charset="-120"/>
              </a:rPr>
              <a:t>Motivation</a:t>
            </a:r>
            <a:endParaRPr lang="en-US" sz="2100" dirty="0"/>
          </a:p>
        </p:txBody>
      </p:sp>
      <p:sp>
        <p:nvSpPr>
          <p:cNvPr id="5" name="Text 2"/>
          <p:cNvSpPr/>
          <p:nvPr/>
        </p:nvSpPr>
        <p:spPr>
          <a:xfrm>
            <a:off x="530352" y="749808"/>
            <a:ext cx="8229600" cy="256032"/>
          </a:xfrm>
          <a:prstGeom prst="rect">
            <a:avLst/>
          </a:prstGeom>
          <a:noFill/>
          <a:ln/>
        </p:spPr>
        <p:txBody>
          <a:bodyPr wrap="square" lIns="0" tIns="0" rIns="0" bIns="0" rtlCol="0" anchor="ctr"/>
          <a:lstStyle/>
          <a:p>
            <a:pPr marL="0" indent="0">
              <a:buNone/>
            </a:pPr>
            <a:r>
              <a:rPr lang="en-US" sz="1150" dirty="0">
                <a:solidFill>
                  <a:srgbClr val="7A9DB8"/>
                </a:solidFill>
                <a:latin typeface="Calibri" pitchFamily="34" charset="0"/>
                <a:ea typeface="Calibri" pitchFamily="34" charset="-122"/>
                <a:cs typeface="Calibri" pitchFamily="34" charset="-120"/>
              </a:rPr>
              <a:t>Three real-world cases that shaped every design decision in this project.</a:t>
            </a:r>
            <a:endParaRPr lang="en-US" sz="1150" dirty="0"/>
          </a:p>
        </p:txBody>
      </p:sp>
      <p:sp>
        <p:nvSpPr>
          <p:cNvPr id="6" name="Shape 3"/>
          <p:cNvSpPr/>
          <p:nvPr/>
        </p:nvSpPr>
        <p:spPr>
          <a:xfrm>
            <a:off x="365760" y="1051560"/>
            <a:ext cx="2633472" cy="3383280"/>
          </a:xfrm>
          <a:prstGeom prst="rect">
            <a:avLst/>
          </a:prstGeom>
          <a:solidFill>
            <a:srgbClr val="150510"/>
          </a:solidFill>
          <a:ln w="12700">
            <a:solidFill>
              <a:srgbClr val="E8365D"/>
            </a:solidFill>
            <a:prstDash val="solid"/>
          </a:ln>
          <a:effectLst>
            <a:outerShdw blurRad="203200" dist="50800" dir="8100000" algn="bl" rotWithShape="0">
              <a:srgbClr val="000000">
                <a:alpha val="45000"/>
              </a:srgbClr>
            </a:outerShdw>
          </a:effectLst>
        </p:spPr>
        <p:txBody>
          <a:bodyPr/>
          <a:lstStyle/>
          <a:p>
            <a:endParaRPr lang="en-US"/>
          </a:p>
        </p:txBody>
      </p:sp>
      <p:sp>
        <p:nvSpPr>
          <p:cNvPr id="7" name="Shape 4"/>
          <p:cNvSpPr/>
          <p:nvPr/>
        </p:nvSpPr>
        <p:spPr>
          <a:xfrm>
            <a:off x="365760" y="1051560"/>
            <a:ext cx="2633472" cy="36576"/>
          </a:xfrm>
          <a:prstGeom prst="rect">
            <a:avLst/>
          </a:prstGeom>
          <a:solidFill>
            <a:srgbClr val="E8365D"/>
          </a:solidFill>
          <a:ln w="12700">
            <a:solidFill>
              <a:srgbClr val="E8365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30352" y="1161288"/>
            <a:ext cx="402336" cy="402336"/>
          </a:xfrm>
          <a:prstGeom prst="rect">
            <a:avLst/>
          </a:prstGeom>
        </p:spPr>
      </p:pic>
      <p:sp>
        <p:nvSpPr>
          <p:cNvPr id="9" name="Shape 5"/>
          <p:cNvSpPr/>
          <p:nvPr/>
        </p:nvSpPr>
        <p:spPr>
          <a:xfrm>
            <a:off x="1335024" y="1143000"/>
            <a:ext cx="1600200" cy="201168"/>
          </a:xfrm>
          <a:prstGeom prst="rect">
            <a:avLst/>
          </a:prstGeom>
          <a:solidFill>
            <a:srgbClr val="E8365D"/>
          </a:solidFill>
          <a:ln w="12700">
            <a:solidFill>
              <a:srgbClr val="E8365D"/>
            </a:solidFill>
            <a:prstDash val="solid"/>
          </a:ln>
        </p:spPr>
        <p:txBody>
          <a:bodyPr/>
          <a:lstStyle/>
          <a:p>
            <a:endParaRPr lang="en-US"/>
          </a:p>
        </p:txBody>
      </p:sp>
      <p:sp>
        <p:nvSpPr>
          <p:cNvPr id="10" name="Text 6"/>
          <p:cNvSpPr/>
          <p:nvPr/>
        </p:nvSpPr>
        <p:spPr>
          <a:xfrm>
            <a:off x="1335024" y="1143000"/>
            <a:ext cx="1600200" cy="201168"/>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STATE-SPONSORED APT</a:t>
            </a:r>
            <a:endParaRPr lang="en-US" sz="700" dirty="0"/>
          </a:p>
        </p:txBody>
      </p:sp>
      <p:sp>
        <p:nvSpPr>
          <p:cNvPr id="11" name="Text 7"/>
          <p:cNvSpPr/>
          <p:nvPr/>
        </p:nvSpPr>
        <p:spPr>
          <a:xfrm>
            <a:off x="502920" y="1645920"/>
            <a:ext cx="2404872" cy="658368"/>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Lazarus Group</a:t>
            </a:r>
            <a:endParaRPr lang="en-US" sz="1350" dirty="0"/>
          </a:p>
          <a:p>
            <a:pPr marL="0" indent="0">
              <a:buNone/>
            </a:pPr>
            <a:r>
              <a:rPr lang="en-US" sz="1350" b="1" dirty="0">
                <a:solidFill>
                  <a:srgbClr val="FFFFFF"/>
                </a:solidFill>
                <a:latin typeface="Trebuchet MS" pitchFamily="34" charset="0"/>
                <a:ea typeface="Trebuchet MS" pitchFamily="34" charset="-122"/>
                <a:cs typeface="Trebuchet MS" pitchFamily="34" charset="-120"/>
              </a:rPr>
              <a:t>FudModule Rootkit</a:t>
            </a:r>
            <a:endParaRPr lang="en-US" sz="1350" dirty="0"/>
          </a:p>
        </p:txBody>
      </p:sp>
      <p:sp>
        <p:nvSpPr>
          <p:cNvPr id="12" name="Text 8"/>
          <p:cNvSpPr/>
          <p:nvPr/>
        </p:nvSpPr>
        <p:spPr>
          <a:xfrm>
            <a:off x="502920" y="2350008"/>
            <a:ext cx="2404872" cy="1554480"/>
          </a:xfrm>
          <a:prstGeom prst="rect">
            <a:avLst/>
          </a:prstGeom>
          <a:noFill/>
          <a:ln/>
        </p:spPr>
        <p:txBody>
          <a:bodyPr wrap="square" lIns="0" tIns="0" rIns="0" bIns="0" rtlCol="0" anchor="ctr"/>
          <a:lstStyle/>
          <a:p>
            <a:pPr marL="0" indent="0">
              <a:buNone/>
            </a:pPr>
            <a:r>
              <a:rPr lang="en-US" sz="1050" dirty="0">
                <a:solidFill>
                  <a:srgbClr val="B8D4E8"/>
                </a:solidFill>
                <a:latin typeface="Calibri" pitchFamily="34" charset="0"/>
                <a:ea typeface="Calibri" pitchFamily="34" charset="-122"/>
                <a:cs typeface="Calibri" pitchFamily="34" charset="-120"/>
              </a:rPr>
              <a:t>North Korean state actor. Disabled EDR kernel callbacks from user space — no kernel exploit at runtime. Used BYOVD to obtain kernel access, then blinded security software without a crash.</a:t>
            </a:r>
            <a:endParaRPr lang="en-US" sz="1050" dirty="0"/>
          </a:p>
        </p:txBody>
      </p:sp>
      <p:sp>
        <p:nvSpPr>
          <p:cNvPr id="13" name="Shape 9"/>
          <p:cNvSpPr/>
          <p:nvPr/>
        </p:nvSpPr>
        <p:spPr>
          <a:xfrm>
            <a:off x="457200" y="4114800"/>
            <a:ext cx="2450592" cy="256032"/>
          </a:xfrm>
          <a:prstGeom prst="rect">
            <a:avLst/>
          </a:prstGeom>
          <a:solidFill>
            <a:srgbClr val="080810"/>
          </a:solidFill>
          <a:ln w="12700">
            <a:solidFill>
              <a:srgbClr val="E8365D"/>
            </a:solidFill>
            <a:prstDash val="solid"/>
          </a:ln>
          <a:effectLst>
            <a:outerShdw blurRad="203200" dist="50800" dir="8100000" algn="bl" rotWithShape="0">
              <a:srgbClr val="000000">
                <a:alpha val="45000"/>
              </a:srgbClr>
            </a:outerShdw>
          </a:effectLst>
        </p:spPr>
        <p:txBody>
          <a:bodyPr/>
          <a:lstStyle/>
          <a:p>
            <a:endParaRPr lang="en-US"/>
          </a:p>
        </p:txBody>
      </p:sp>
      <p:sp>
        <p:nvSpPr>
          <p:cNvPr id="14" name="Text 10"/>
          <p:cNvSpPr/>
          <p:nvPr/>
        </p:nvSpPr>
        <p:spPr>
          <a:xfrm>
            <a:off x="457200" y="4114800"/>
            <a:ext cx="2450592" cy="256032"/>
          </a:xfrm>
          <a:prstGeom prst="rect">
            <a:avLst/>
          </a:prstGeom>
          <a:noFill/>
          <a:ln/>
        </p:spPr>
        <p:txBody>
          <a:bodyPr wrap="square" lIns="0" tIns="0" rIns="0" bIns="0" rtlCol="0" anchor="ctr"/>
          <a:lstStyle/>
          <a:p>
            <a:pPr marL="0" indent="0" algn="ctr">
              <a:buNone/>
            </a:pPr>
            <a:r>
              <a:rPr lang="en-US" sz="800" dirty="0">
                <a:solidFill>
                  <a:srgbClr val="E8365D"/>
                </a:solidFill>
                <a:latin typeface="Consolas" pitchFamily="34" charset="0"/>
                <a:ea typeface="Consolas" pitchFamily="34" charset="-122"/>
                <a:cs typeface="Consolas" pitchFamily="34" charset="-120"/>
              </a:rPr>
              <a:t>Technique: BYOVD kernel callback removal  ·  2022</a:t>
            </a:r>
            <a:endParaRPr lang="en-US" sz="800" dirty="0"/>
          </a:p>
        </p:txBody>
      </p:sp>
      <p:sp>
        <p:nvSpPr>
          <p:cNvPr id="15" name="Shape 11"/>
          <p:cNvSpPr/>
          <p:nvPr/>
        </p:nvSpPr>
        <p:spPr>
          <a:xfrm>
            <a:off x="3163824" y="1051560"/>
            <a:ext cx="2633472" cy="3383280"/>
          </a:xfrm>
          <a:prstGeom prst="rect">
            <a:avLst/>
          </a:prstGeom>
          <a:solidFill>
            <a:srgbClr val="130A05"/>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16" name="Shape 12"/>
          <p:cNvSpPr/>
          <p:nvPr/>
        </p:nvSpPr>
        <p:spPr>
          <a:xfrm>
            <a:off x="3163824" y="1051560"/>
            <a:ext cx="2633472" cy="36576"/>
          </a:xfrm>
          <a:prstGeom prst="rect">
            <a:avLst/>
          </a:prstGeom>
          <a:solidFill>
            <a:srgbClr val="FF6B35"/>
          </a:solidFill>
          <a:ln w="12700">
            <a:solidFill>
              <a:srgbClr val="FF6B35"/>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328416" y="1161288"/>
            <a:ext cx="402336" cy="402336"/>
          </a:xfrm>
          <a:prstGeom prst="rect">
            <a:avLst/>
          </a:prstGeom>
        </p:spPr>
      </p:pic>
      <p:sp>
        <p:nvSpPr>
          <p:cNvPr id="18" name="Shape 13"/>
          <p:cNvSpPr/>
          <p:nvPr/>
        </p:nvSpPr>
        <p:spPr>
          <a:xfrm>
            <a:off x="4133088" y="1143000"/>
            <a:ext cx="1600200" cy="201168"/>
          </a:xfrm>
          <a:prstGeom prst="rect">
            <a:avLst/>
          </a:prstGeom>
          <a:solidFill>
            <a:srgbClr val="FF6B35"/>
          </a:solidFill>
          <a:ln w="12700">
            <a:solidFill>
              <a:srgbClr val="FF6B35"/>
            </a:solidFill>
            <a:prstDash val="solid"/>
          </a:ln>
        </p:spPr>
        <p:txBody>
          <a:bodyPr/>
          <a:lstStyle/>
          <a:p>
            <a:endParaRPr lang="en-US"/>
          </a:p>
        </p:txBody>
      </p:sp>
      <p:sp>
        <p:nvSpPr>
          <p:cNvPr id="19" name="Text 14"/>
          <p:cNvSpPr/>
          <p:nvPr/>
        </p:nvSpPr>
        <p:spPr>
          <a:xfrm>
            <a:off x="4133088" y="1143000"/>
            <a:ext cx="1600200" cy="201168"/>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COMMERCIAL MALWARE</a:t>
            </a:r>
            <a:endParaRPr lang="en-US" sz="700" dirty="0"/>
          </a:p>
        </p:txBody>
      </p:sp>
      <p:sp>
        <p:nvSpPr>
          <p:cNvPr id="20" name="Text 15"/>
          <p:cNvSpPr/>
          <p:nvPr/>
        </p:nvSpPr>
        <p:spPr>
          <a:xfrm>
            <a:off x="3300984" y="1645920"/>
            <a:ext cx="2404872" cy="658368"/>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Remcos RAT</a:t>
            </a:r>
            <a:endParaRPr lang="en-US" sz="1350" dirty="0"/>
          </a:p>
        </p:txBody>
      </p:sp>
      <p:sp>
        <p:nvSpPr>
          <p:cNvPr id="21" name="Text 16"/>
          <p:cNvSpPr/>
          <p:nvPr/>
        </p:nvSpPr>
        <p:spPr>
          <a:xfrm>
            <a:off x="3300984" y="2350008"/>
            <a:ext cx="2404872" cy="1554480"/>
          </a:xfrm>
          <a:prstGeom prst="rect">
            <a:avLst/>
          </a:prstGeom>
          <a:noFill/>
          <a:ln/>
        </p:spPr>
        <p:txBody>
          <a:bodyPr wrap="square" lIns="0" tIns="0" rIns="0" bIns="0" rtlCol="0" anchor="ctr"/>
          <a:lstStyle/>
          <a:p>
            <a:pPr marL="0" indent="0">
              <a:buNone/>
            </a:pPr>
            <a:r>
              <a:rPr lang="en-US" sz="1050" dirty="0">
                <a:solidFill>
                  <a:srgbClr val="B8D4E8"/>
                </a:solidFill>
                <a:latin typeface="Calibri" pitchFamily="34" charset="0"/>
                <a:ea typeface="Calibri" pitchFamily="34" charset="-122"/>
                <a:cs typeface="Calibri" pitchFamily="34" charset="-120"/>
              </a:rPr>
              <a:t>Commercially sold tool repurposed for attacks. Applies the EtwEventWrite 0xC3 patch in memory before running its payload — makes the process invisible to any EDR tool relying on ETW.</a:t>
            </a:r>
            <a:endParaRPr lang="en-US" sz="1050" dirty="0"/>
          </a:p>
        </p:txBody>
      </p:sp>
      <p:sp>
        <p:nvSpPr>
          <p:cNvPr id="22" name="Shape 17"/>
          <p:cNvSpPr/>
          <p:nvPr/>
        </p:nvSpPr>
        <p:spPr>
          <a:xfrm>
            <a:off x="3255264" y="4114800"/>
            <a:ext cx="2450592" cy="256032"/>
          </a:xfrm>
          <a:prstGeom prst="rect">
            <a:avLst/>
          </a:prstGeom>
          <a:solidFill>
            <a:srgbClr val="080810"/>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23" name="Text 18"/>
          <p:cNvSpPr/>
          <p:nvPr/>
        </p:nvSpPr>
        <p:spPr>
          <a:xfrm>
            <a:off x="3255264" y="4114800"/>
            <a:ext cx="2450592" cy="256032"/>
          </a:xfrm>
          <a:prstGeom prst="rect">
            <a:avLst/>
          </a:prstGeom>
          <a:noFill/>
          <a:ln/>
        </p:spPr>
        <p:txBody>
          <a:bodyPr wrap="square" lIns="0" tIns="0" rIns="0" bIns="0" rtlCol="0" anchor="ctr"/>
          <a:lstStyle/>
          <a:p>
            <a:pPr marL="0" indent="0" algn="ctr">
              <a:buNone/>
            </a:pPr>
            <a:r>
              <a:rPr lang="en-US" sz="800" dirty="0">
                <a:solidFill>
                  <a:srgbClr val="FF6B35"/>
                </a:solidFill>
                <a:latin typeface="Consolas" pitchFamily="34" charset="0"/>
                <a:ea typeface="Consolas" pitchFamily="34" charset="-122"/>
                <a:cs typeface="Consolas" pitchFamily="34" charset="-120"/>
              </a:rPr>
              <a:t>Technique: In-process ETW patch  ·  Ongoing</a:t>
            </a:r>
            <a:endParaRPr lang="en-US" sz="800" dirty="0"/>
          </a:p>
        </p:txBody>
      </p:sp>
      <p:sp>
        <p:nvSpPr>
          <p:cNvPr id="24" name="Shape 19"/>
          <p:cNvSpPr/>
          <p:nvPr/>
        </p:nvSpPr>
        <p:spPr>
          <a:xfrm>
            <a:off x="5961888" y="1051560"/>
            <a:ext cx="2633472" cy="3383280"/>
          </a:xfrm>
          <a:prstGeom prst="rect">
            <a:avLst/>
          </a:prstGeom>
          <a:solidFill>
            <a:srgbClr val="111005"/>
          </a:solidFill>
          <a:ln w="12700">
            <a:solidFill>
              <a:srgbClr val="FFD166"/>
            </a:solidFill>
            <a:prstDash val="solid"/>
          </a:ln>
          <a:effectLst>
            <a:outerShdw blurRad="203200" dist="50800" dir="8100000" algn="bl" rotWithShape="0">
              <a:srgbClr val="000000">
                <a:alpha val="45000"/>
              </a:srgbClr>
            </a:outerShdw>
          </a:effectLst>
        </p:spPr>
        <p:txBody>
          <a:bodyPr/>
          <a:lstStyle/>
          <a:p>
            <a:endParaRPr lang="en-US"/>
          </a:p>
        </p:txBody>
      </p:sp>
      <p:sp>
        <p:nvSpPr>
          <p:cNvPr id="25" name="Shape 20"/>
          <p:cNvSpPr/>
          <p:nvPr/>
        </p:nvSpPr>
        <p:spPr>
          <a:xfrm>
            <a:off x="5961888" y="1051560"/>
            <a:ext cx="2633472" cy="36576"/>
          </a:xfrm>
          <a:prstGeom prst="rect">
            <a:avLst/>
          </a:prstGeom>
          <a:solidFill>
            <a:srgbClr val="FFD166"/>
          </a:solidFill>
          <a:ln w="12700">
            <a:solidFill>
              <a:srgbClr val="FFD166"/>
            </a:solidFill>
            <a:prstDash val="solid"/>
          </a:ln>
        </p:spPr>
        <p:txBody>
          <a:bodyPr/>
          <a:lstStyle/>
          <a:p>
            <a:endParaRPr lang="en-US"/>
          </a:p>
        </p:txBody>
      </p:sp>
      <p:pic>
        <p:nvPicPr>
          <p:cNvPr id="26" name="Image 2" descr="preencoded.png"/>
          <p:cNvPicPr>
            <a:picLocks noChangeAspect="1"/>
          </p:cNvPicPr>
          <p:nvPr/>
        </p:nvPicPr>
        <p:blipFill>
          <a:blip r:embed="rId5"/>
          <a:stretch>
            <a:fillRect/>
          </a:stretch>
        </p:blipFill>
        <p:spPr>
          <a:xfrm>
            <a:off x="6126480" y="1161288"/>
            <a:ext cx="402336" cy="402336"/>
          </a:xfrm>
          <a:prstGeom prst="rect">
            <a:avLst/>
          </a:prstGeom>
        </p:spPr>
      </p:pic>
      <p:sp>
        <p:nvSpPr>
          <p:cNvPr id="27" name="Shape 21"/>
          <p:cNvSpPr/>
          <p:nvPr/>
        </p:nvSpPr>
        <p:spPr>
          <a:xfrm>
            <a:off x="6931152" y="1143000"/>
            <a:ext cx="1600200" cy="201168"/>
          </a:xfrm>
          <a:prstGeom prst="rect">
            <a:avLst/>
          </a:prstGeom>
          <a:solidFill>
            <a:srgbClr val="FFD166"/>
          </a:solidFill>
          <a:ln w="12700">
            <a:solidFill>
              <a:srgbClr val="FFD166"/>
            </a:solidFill>
            <a:prstDash val="solid"/>
          </a:ln>
        </p:spPr>
        <p:txBody>
          <a:bodyPr/>
          <a:lstStyle/>
          <a:p>
            <a:endParaRPr lang="en-US"/>
          </a:p>
        </p:txBody>
      </p:sp>
      <p:sp>
        <p:nvSpPr>
          <p:cNvPr id="28" name="Text 22"/>
          <p:cNvSpPr/>
          <p:nvPr/>
        </p:nvSpPr>
        <p:spPr>
          <a:xfrm>
            <a:off x="6931152" y="1143000"/>
            <a:ext cx="1600200" cy="201168"/>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CVE-2021-21551  ·  CVSS 8.8</a:t>
            </a:r>
            <a:endParaRPr lang="en-US" sz="700" dirty="0"/>
          </a:p>
        </p:txBody>
      </p:sp>
      <p:sp>
        <p:nvSpPr>
          <p:cNvPr id="29" name="Text 23"/>
          <p:cNvSpPr/>
          <p:nvPr/>
        </p:nvSpPr>
        <p:spPr>
          <a:xfrm>
            <a:off x="6099048" y="1645920"/>
            <a:ext cx="2404872" cy="658368"/>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Dell DBUtil Driver</a:t>
            </a:r>
            <a:endParaRPr lang="en-US" sz="1350" dirty="0"/>
          </a:p>
          <a:p>
            <a:pPr marL="0" indent="0">
              <a:buNone/>
            </a:pPr>
            <a:r>
              <a:rPr lang="en-US" sz="1350" b="1" dirty="0">
                <a:solidFill>
                  <a:srgbClr val="FFFFFF"/>
                </a:solidFill>
                <a:latin typeface="Trebuchet MS" pitchFamily="34" charset="0"/>
                <a:ea typeface="Trebuchet MS" pitchFamily="34" charset="-122"/>
                <a:cs typeface="Trebuchet MS" pitchFamily="34" charset="-120"/>
              </a:rPr>
              <a:t>Privilege Escalation</a:t>
            </a:r>
            <a:endParaRPr lang="en-US" sz="1350" dirty="0"/>
          </a:p>
        </p:txBody>
      </p:sp>
      <p:sp>
        <p:nvSpPr>
          <p:cNvPr id="30" name="Text 24"/>
          <p:cNvSpPr/>
          <p:nvPr/>
        </p:nvSpPr>
        <p:spPr>
          <a:xfrm>
            <a:off x="6099048" y="2350008"/>
            <a:ext cx="2404872" cy="1554480"/>
          </a:xfrm>
          <a:prstGeom prst="rect">
            <a:avLst/>
          </a:prstGeom>
          <a:noFill/>
          <a:ln/>
        </p:spPr>
        <p:txBody>
          <a:bodyPr wrap="square" lIns="0" tIns="0" rIns="0" bIns="0" rtlCol="0" anchor="ctr"/>
          <a:lstStyle/>
          <a:p>
            <a:pPr marL="0" indent="0">
              <a:buNone/>
            </a:pPr>
            <a:r>
              <a:rPr lang="en-US" sz="1050" dirty="0">
                <a:solidFill>
                  <a:srgbClr val="B8D4E8"/>
                </a:solidFill>
                <a:latin typeface="Calibri" pitchFamily="34" charset="0"/>
                <a:ea typeface="Calibri" pitchFamily="34" charset="-122"/>
                <a:cs typeface="Calibri" pitchFamily="34" charset="-120"/>
              </a:rPr>
              <a:t>Signed Dell driver on millions of machines. A kernel read/write flaw let Lazarus obtain Ring 0 access before deploying FudModule — the escalation step that always precedes telemetry silencing.</a:t>
            </a:r>
            <a:endParaRPr lang="en-US" sz="1050" dirty="0"/>
          </a:p>
        </p:txBody>
      </p:sp>
      <p:sp>
        <p:nvSpPr>
          <p:cNvPr id="31" name="Shape 25"/>
          <p:cNvSpPr/>
          <p:nvPr/>
        </p:nvSpPr>
        <p:spPr>
          <a:xfrm>
            <a:off x="6053328" y="4114800"/>
            <a:ext cx="2450592" cy="256032"/>
          </a:xfrm>
          <a:prstGeom prst="rect">
            <a:avLst/>
          </a:prstGeom>
          <a:solidFill>
            <a:srgbClr val="080810"/>
          </a:solidFill>
          <a:ln w="12700">
            <a:solidFill>
              <a:srgbClr val="FFD166"/>
            </a:solidFill>
            <a:prstDash val="solid"/>
          </a:ln>
          <a:effectLst>
            <a:outerShdw blurRad="203200" dist="50800" dir="8100000" algn="bl" rotWithShape="0">
              <a:srgbClr val="000000">
                <a:alpha val="45000"/>
              </a:srgbClr>
            </a:outerShdw>
          </a:effectLst>
        </p:spPr>
        <p:txBody>
          <a:bodyPr/>
          <a:lstStyle/>
          <a:p>
            <a:endParaRPr lang="en-US"/>
          </a:p>
        </p:txBody>
      </p:sp>
      <p:sp>
        <p:nvSpPr>
          <p:cNvPr id="32" name="Text 26"/>
          <p:cNvSpPr/>
          <p:nvPr/>
        </p:nvSpPr>
        <p:spPr>
          <a:xfrm>
            <a:off x="6053328" y="4114800"/>
            <a:ext cx="2450592" cy="256032"/>
          </a:xfrm>
          <a:prstGeom prst="rect">
            <a:avLst/>
          </a:prstGeom>
          <a:noFill/>
          <a:ln/>
        </p:spPr>
        <p:txBody>
          <a:bodyPr wrap="square" lIns="0" tIns="0" rIns="0" bIns="0" rtlCol="0" anchor="ctr"/>
          <a:lstStyle/>
          <a:p>
            <a:pPr marL="0" indent="0" algn="ctr">
              <a:buNone/>
            </a:pPr>
            <a:r>
              <a:rPr lang="en-US" sz="800" dirty="0">
                <a:solidFill>
                  <a:srgbClr val="FFD166"/>
                </a:solidFill>
                <a:latin typeface="Consolas" pitchFamily="34" charset="0"/>
                <a:ea typeface="Consolas" pitchFamily="34" charset="-122"/>
                <a:cs typeface="Consolas" pitchFamily="34" charset="-120"/>
              </a:rPr>
              <a:t>Local Privilege Escalation  ·  Patch: May 2021</a:t>
            </a:r>
            <a:endParaRPr lang="en-US" sz="800" dirty="0"/>
          </a:p>
        </p:txBody>
      </p:sp>
      <p:sp>
        <p:nvSpPr>
          <p:cNvPr id="33" name="Shape 27"/>
          <p:cNvSpPr/>
          <p:nvPr/>
        </p:nvSpPr>
        <p:spPr>
          <a:xfrm>
            <a:off x="365760" y="4599432"/>
            <a:ext cx="8412480" cy="292608"/>
          </a:xfrm>
          <a:prstGeom prst="rect">
            <a:avLst/>
          </a:prstGeom>
          <a:solidFill>
            <a:srgbClr val="0E1E3A"/>
          </a:solidFill>
          <a:ln w="12700">
            <a:solidFill>
              <a:srgbClr val="007A99"/>
            </a:solidFill>
            <a:prstDash val="solid"/>
          </a:ln>
        </p:spPr>
        <p:txBody>
          <a:bodyPr/>
          <a:lstStyle/>
          <a:p>
            <a:endParaRPr lang="en-US"/>
          </a:p>
        </p:txBody>
      </p:sp>
      <p:sp>
        <p:nvSpPr>
          <p:cNvPr id="34" name="Text 28"/>
          <p:cNvSpPr/>
          <p:nvPr/>
        </p:nvSpPr>
        <p:spPr>
          <a:xfrm>
            <a:off x="365760" y="4599432"/>
            <a:ext cx="8412480" cy="292608"/>
          </a:xfrm>
          <a:prstGeom prst="rect">
            <a:avLst/>
          </a:prstGeom>
          <a:noFill/>
          <a:ln/>
        </p:spPr>
        <p:txBody>
          <a:bodyPr wrap="square" lIns="0" tIns="0" rIns="0" bIns="0" rtlCol="0" anchor="ctr"/>
          <a:lstStyle/>
          <a:p>
            <a:pPr marL="0" indent="0" algn="ctr">
              <a:buNone/>
            </a:pPr>
            <a:r>
              <a:rPr lang="en-US" sz="850" dirty="0">
                <a:solidFill>
                  <a:srgbClr val="00D4FF"/>
                </a:solidFill>
                <a:latin typeface="Consolas" pitchFamily="34" charset="0"/>
                <a:ea typeface="Consolas" pitchFamily="34" charset="-122"/>
                <a:cs typeface="Consolas" pitchFamily="34" charset="-120"/>
              </a:rPr>
              <a:t>MITRE ATT&amp;CK  ·  T1562.006  ·  TA0005 Defense Evasion  ·  Impair Defenses: Disable or Modify ETW / Linux Audit System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Three Environments </a:t>
            </a:r>
            <a:r>
              <a:rPr lang="en-US" sz="2100" b="1" dirty="0">
                <a:solidFill>
                  <a:srgbClr val="FFFFFF"/>
                </a:solidFill>
                <a:latin typeface="Trebuchet MS" pitchFamily="34" charset="0"/>
                <a:ea typeface="Trebuchet MS" pitchFamily="34" charset="-122"/>
                <a:cs typeface="Trebuchet MS" pitchFamily="34" charset="-120"/>
              </a:rPr>
              <a:t>Setup -</a:t>
            </a:r>
            <a:r>
              <a:rPr kumimoji="0" lang="en-US" sz="2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 The Windows VM, the Hardest Part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A36AB801-193D-9FEE-FB10-B42F16208BF0}"/>
              </a:ext>
            </a:extLst>
          </p:cNvPr>
          <p:cNvGrpSpPr/>
          <p:nvPr/>
        </p:nvGrpSpPr>
        <p:grpSpPr>
          <a:xfrm>
            <a:off x="189591" y="804672"/>
            <a:ext cx="2395728" cy="3246120"/>
            <a:chOff x="365760" y="804672"/>
            <a:chExt cx="2395728" cy="3246120"/>
          </a:xfrm>
        </p:grpSpPr>
        <p:sp>
          <p:nvSpPr>
            <p:cNvPr id="5" name="Shape 2"/>
            <p:cNvSpPr/>
            <p:nvPr/>
          </p:nvSpPr>
          <p:spPr>
            <a:xfrm>
              <a:off x="365760" y="804672"/>
              <a:ext cx="2395728" cy="3246120"/>
            </a:xfrm>
            <a:prstGeom prst="rect">
              <a:avLst/>
            </a:prstGeom>
            <a:solidFill>
              <a:srgbClr val="0A1628"/>
            </a:solidFill>
            <a:ln w="12700">
              <a:solidFill>
                <a:srgbClr val="1E3A5F"/>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3"/>
            <p:cNvSpPr/>
            <p:nvPr/>
          </p:nvSpPr>
          <p:spPr>
            <a:xfrm>
              <a:off x="365760" y="804672"/>
              <a:ext cx="2395728" cy="36576"/>
            </a:xfrm>
            <a:prstGeom prst="rect">
              <a:avLst/>
            </a:prstGeom>
            <a:solidFill>
              <a:srgbClr val="1565C0"/>
            </a:solidFill>
            <a:ln w="12700">
              <a:solidFill>
                <a:srgbClr val="1565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512064" y="877824"/>
              <a:ext cx="310896" cy="310896"/>
            </a:xfrm>
            <a:prstGeom prst="rect">
              <a:avLst/>
            </a:prstGeom>
          </p:spPr>
        </p:pic>
        <p:sp>
          <p:nvSpPr>
            <p:cNvPr id="8" name="Text 4"/>
            <p:cNvSpPr/>
            <p:nvPr/>
          </p:nvSpPr>
          <p:spPr>
            <a:xfrm>
              <a:off x="877824" y="877824"/>
              <a:ext cx="1783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FC3F7"/>
                  </a:solidFill>
                  <a:effectLst/>
                  <a:uLnTx/>
                  <a:uFillTx/>
                  <a:latin typeface="Trebuchet MS" pitchFamily="34" charset="0"/>
                  <a:ea typeface="Trebuchet MS" pitchFamily="34" charset="-122"/>
                  <a:cs typeface="Trebuchet MS" pitchFamily="34" charset="-120"/>
                </a:rPr>
                <a:t>Windows 11 PC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877824" y="1115568"/>
              <a:ext cx="17830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A6882"/>
                  </a:solidFill>
                  <a:effectLst/>
                  <a:uLnTx/>
                  <a:uFillTx/>
                  <a:latin typeface="Calibri" pitchFamily="34" charset="0"/>
                  <a:ea typeface="Calibri" pitchFamily="34" charset="-122"/>
                  <a:cs typeface="Calibri" pitchFamily="34" charset="-120"/>
                </a:rPr>
                <a:t>Host  ·  Development Machine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6"/>
            <p:cNvSpPr/>
            <p:nvPr/>
          </p:nvSpPr>
          <p:spPr>
            <a:xfrm>
              <a:off x="475488" y="1389888"/>
              <a:ext cx="2176272" cy="475488"/>
            </a:xfrm>
            <a:prstGeom prst="rect">
              <a:avLst/>
            </a:prstGeom>
            <a:solidFill>
              <a:srgbClr val="060E1C"/>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66928" y="1426464"/>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FC3F7"/>
                  </a:solidFill>
                  <a:effectLst/>
                  <a:uLnTx/>
                  <a:uFillTx/>
                  <a:latin typeface="Calibri" pitchFamily="34" charset="0"/>
                  <a:ea typeface="Calibri" pitchFamily="34" charset="-122"/>
                  <a:cs typeface="Calibri" pitchFamily="34" charset="-120"/>
                </a:rPr>
                <a:t>VS2022 + EWDK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566928" y="1627632"/>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Kernel driver dev environment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475488" y="1956816"/>
              <a:ext cx="2176272" cy="475488"/>
            </a:xfrm>
            <a:prstGeom prst="rect">
              <a:avLst/>
            </a:prstGeom>
            <a:solidFill>
              <a:srgbClr val="060E1C"/>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566928" y="1993392"/>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FC3F7"/>
                  </a:solidFill>
                  <a:effectLst/>
                  <a:uLnTx/>
                  <a:uFillTx/>
                  <a:latin typeface="Calibri" pitchFamily="34" charset="0"/>
                  <a:ea typeface="Calibri" pitchFamily="34" charset="-122"/>
                  <a:cs typeface="Calibri" pitchFamily="34" charset="-120"/>
                </a:rPr>
                <a:t>Python scripts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566928" y="2194560"/>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ETW monitor + correlator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475488" y="2523744"/>
              <a:ext cx="2176272" cy="475488"/>
            </a:xfrm>
            <a:prstGeom prst="rect">
              <a:avLst/>
            </a:prstGeom>
            <a:solidFill>
              <a:srgbClr val="060E1C"/>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566928" y="2560320"/>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FC3F7"/>
                  </a:solidFill>
                  <a:effectLst/>
                  <a:uLnTx/>
                  <a:uFillTx/>
                  <a:latin typeface="Calibri" pitchFamily="34" charset="0"/>
                  <a:ea typeface="Calibri" pitchFamily="34" charset="-122"/>
                  <a:cs typeface="Calibri" pitchFamily="34" charset="-120"/>
                </a:rPr>
                <a:t>WinDbg (host side)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566928" y="2761488"/>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Sends debug over VMnet8</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475488" y="3090672"/>
              <a:ext cx="2176272" cy="475488"/>
            </a:xfrm>
            <a:prstGeom prst="rect">
              <a:avLst/>
            </a:prstGeom>
            <a:solidFill>
              <a:srgbClr val="060E1C"/>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6"/>
            <p:cNvSpPr/>
            <p:nvPr/>
          </p:nvSpPr>
          <p:spPr>
            <a:xfrm>
              <a:off x="566928" y="3127248"/>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FC3F7"/>
                  </a:solidFill>
                  <a:effectLst/>
                  <a:uLnTx/>
                  <a:uFillTx/>
                  <a:latin typeface="Calibri" pitchFamily="34" charset="0"/>
                  <a:ea typeface="Calibri" pitchFamily="34" charset="-122"/>
                  <a:cs typeface="Calibri" pitchFamily="34" charset="-120"/>
                </a:rPr>
                <a:t>etw_tamper.exe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566928" y="3328416"/>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Compiled, deployed to VM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8"/>
          <p:cNvSpPr/>
          <p:nvPr/>
        </p:nvSpPr>
        <p:spPr>
          <a:xfrm>
            <a:off x="2567031" y="2286000"/>
            <a:ext cx="395625" cy="0"/>
          </a:xfrm>
          <a:prstGeom prst="line">
            <a:avLst/>
          </a:prstGeom>
          <a:noFill/>
          <a:ln w="1905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9"/>
          <p:cNvSpPr/>
          <p:nvPr/>
        </p:nvSpPr>
        <p:spPr>
          <a:xfrm>
            <a:off x="2530623" y="1855309"/>
            <a:ext cx="457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WinDbg</a:t>
            </a:r>
            <a:endPar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debug →</a:t>
            </a:r>
            <a:endPar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0"/>
          <p:cNvSpPr/>
          <p:nvPr/>
        </p:nvSpPr>
        <p:spPr>
          <a:xfrm>
            <a:off x="2944368" y="786384"/>
            <a:ext cx="3291840" cy="3264408"/>
          </a:xfrm>
          <a:prstGeom prst="rect">
            <a:avLst/>
          </a:prstGeom>
          <a:solidFill>
            <a:srgbClr val="1A0808"/>
          </a:solidFill>
          <a:ln w="12700">
            <a:solidFill>
              <a:srgbClr val="FF6B35"/>
            </a:solidFill>
            <a:prstDash val="solid"/>
          </a:ln>
          <a:effectLst>
            <a:outerShdw blurRad="228600" dist="50800" dir="8100000" algn="bl" rotWithShape="0">
              <a:srgbClr val="FF6B35">
                <a:alpha val="3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1"/>
          <p:cNvSpPr/>
          <p:nvPr/>
        </p:nvSpPr>
        <p:spPr>
          <a:xfrm>
            <a:off x="2944368" y="786384"/>
            <a:ext cx="3291840" cy="36576"/>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2"/>
          <p:cNvSpPr/>
          <p:nvPr/>
        </p:nvSpPr>
        <p:spPr>
          <a:xfrm>
            <a:off x="4041648" y="621792"/>
            <a:ext cx="1097280" cy="201168"/>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3"/>
          <p:cNvSpPr/>
          <p:nvPr/>
        </p:nvSpPr>
        <p:spPr>
          <a:xfrm>
            <a:off x="4041648" y="621792"/>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4091A"/>
                </a:solidFill>
                <a:effectLst/>
                <a:uLnTx/>
                <a:uFillTx/>
                <a:latin typeface="Consolas" pitchFamily="34" charset="0"/>
                <a:ea typeface="Consolas" pitchFamily="34" charset="-122"/>
                <a:cs typeface="Consolas" pitchFamily="34" charset="-120"/>
              </a:rPr>
              <a:t>MOST DIFFICULT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Image 1" descr="preencoded.png"/>
          <p:cNvPicPr>
            <a:picLocks noChangeAspect="1"/>
          </p:cNvPicPr>
          <p:nvPr/>
        </p:nvPicPr>
        <p:blipFill>
          <a:blip r:embed="rId3"/>
          <a:stretch>
            <a:fillRect/>
          </a:stretch>
        </p:blipFill>
        <p:spPr>
          <a:xfrm>
            <a:off x="3090672" y="877824"/>
            <a:ext cx="310896" cy="310896"/>
          </a:xfrm>
          <a:prstGeom prst="rect">
            <a:avLst/>
          </a:prstGeom>
        </p:spPr>
      </p:pic>
      <p:sp>
        <p:nvSpPr>
          <p:cNvPr id="29" name="Text 24"/>
          <p:cNvSpPr/>
          <p:nvPr/>
        </p:nvSpPr>
        <p:spPr>
          <a:xfrm>
            <a:off x="3456432" y="877824"/>
            <a:ext cx="265176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6B35"/>
                </a:solidFill>
                <a:effectLst/>
                <a:uLnTx/>
                <a:uFillTx/>
                <a:latin typeface="Trebuchet MS" pitchFamily="34" charset="0"/>
                <a:ea typeface="Trebuchet MS" pitchFamily="34" charset="-122"/>
                <a:cs typeface="Trebuchet MS" pitchFamily="34" charset="-120"/>
              </a:rPr>
              <a:t>Windows 11 VM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5"/>
          <p:cNvSpPr/>
          <p:nvPr/>
        </p:nvSpPr>
        <p:spPr>
          <a:xfrm>
            <a:off x="3456432" y="1115568"/>
            <a:ext cx="26517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A6882"/>
                </a:solidFill>
                <a:effectLst/>
                <a:uLnTx/>
                <a:uFillTx/>
                <a:latin typeface="Calibri" pitchFamily="34" charset="0"/>
                <a:ea typeface="Calibri" pitchFamily="34" charset="-122"/>
                <a:cs typeface="Calibri" pitchFamily="34" charset="-120"/>
              </a:rPr>
              <a:t>Target Machine  ·  VMware  ·  Test-signed kernel mode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6"/>
          <p:cNvSpPr/>
          <p:nvPr/>
        </p:nvSpPr>
        <p:spPr>
          <a:xfrm>
            <a:off x="3017520" y="1371600"/>
            <a:ext cx="3127248" cy="329184"/>
          </a:xfrm>
          <a:prstGeom prst="rect">
            <a:avLst/>
          </a:prstGeom>
          <a:solidFill>
            <a:srgbClr val="200A04"/>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7"/>
          <p:cNvSpPr/>
          <p:nvPr/>
        </p:nvSpPr>
        <p:spPr>
          <a:xfrm>
            <a:off x="3090672" y="1389888"/>
            <a:ext cx="29809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Where PhantomGuard.sys loads  ·  Where ETW gets patched  ·  Where the BSODs happened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 name="Image 2" descr="preencoded.png"/>
          <p:cNvPicPr>
            <a:picLocks noChangeAspect="1"/>
          </p:cNvPicPr>
          <p:nvPr/>
        </p:nvPicPr>
        <p:blipFill>
          <a:blip r:embed="rId4"/>
          <a:stretch>
            <a:fillRect/>
          </a:stretch>
        </p:blipFill>
        <p:spPr>
          <a:xfrm>
            <a:off x="3017520" y="1773936"/>
            <a:ext cx="1499616" cy="969264"/>
          </a:xfrm>
          <a:prstGeom prst="rect">
            <a:avLst/>
          </a:prstGeom>
          <a:effectLst>
            <a:outerShdw blurRad="127000" dist="38100" dir="8100000" algn="bl" rotWithShape="0">
              <a:srgbClr val="000000">
                <a:alpha val="35000"/>
              </a:srgbClr>
            </a:outerShdw>
          </a:effectLst>
        </p:spPr>
      </p:pic>
      <p:sp>
        <p:nvSpPr>
          <p:cNvPr id="34" name="Shape 28"/>
          <p:cNvSpPr/>
          <p:nvPr/>
        </p:nvSpPr>
        <p:spPr>
          <a:xfrm>
            <a:off x="3017520" y="1773936"/>
            <a:ext cx="1499616" cy="969264"/>
          </a:xfrm>
          <a:prstGeom prst="rect">
            <a:avLst/>
          </a:prstGeom>
          <a:solidFill>
            <a:srgbClr val="FFFFFF">
              <a:alpha val="0"/>
            </a:srgbClr>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9"/>
          <p:cNvSpPr/>
          <p:nvPr/>
        </p:nvSpPr>
        <p:spPr>
          <a:xfrm>
            <a:off x="3017520" y="2770632"/>
            <a:ext cx="1499616"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WinDbg → VM connected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Image 3" descr="preencoded.png"/>
          <p:cNvPicPr>
            <a:picLocks noChangeAspect="1"/>
          </p:cNvPicPr>
          <p:nvPr/>
        </p:nvPicPr>
        <p:blipFill>
          <a:blip r:embed="rId5"/>
          <a:stretch>
            <a:fillRect/>
          </a:stretch>
        </p:blipFill>
        <p:spPr>
          <a:xfrm>
            <a:off x="4645152" y="1773936"/>
            <a:ext cx="1499616" cy="969264"/>
          </a:xfrm>
          <a:prstGeom prst="rect">
            <a:avLst/>
          </a:prstGeom>
          <a:effectLst>
            <a:outerShdw blurRad="127000" dist="38100" dir="8100000" algn="bl" rotWithShape="0">
              <a:srgbClr val="000000">
                <a:alpha val="35000"/>
              </a:srgbClr>
            </a:outerShdw>
          </a:effectLst>
        </p:spPr>
      </p:pic>
      <p:sp>
        <p:nvSpPr>
          <p:cNvPr id="37" name="Shape 30"/>
          <p:cNvSpPr/>
          <p:nvPr/>
        </p:nvSpPr>
        <p:spPr>
          <a:xfrm>
            <a:off x="4645152" y="1773936"/>
            <a:ext cx="1499616" cy="969264"/>
          </a:xfrm>
          <a:prstGeom prst="rect">
            <a:avLst/>
          </a:prstGeom>
          <a:solidFill>
            <a:srgbClr val="FFFFFF">
              <a:alpha val="0"/>
            </a:srgbClr>
          </a:solidFill>
          <a:ln w="12700">
            <a:solidFill>
              <a:srgbClr val="00C89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1"/>
          <p:cNvSpPr/>
          <p:nvPr/>
        </p:nvSpPr>
        <p:spPr>
          <a:xfrm>
            <a:off x="4645152" y="2770632"/>
            <a:ext cx="1499616"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Driver loaded successfully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2"/>
          <p:cNvSpPr/>
          <p:nvPr/>
        </p:nvSpPr>
        <p:spPr>
          <a:xfrm>
            <a:off x="3017520" y="2999232"/>
            <a:ext cx="3127248" cy="438912"/>
          </a:xfrm>
          <a:prstGeom prst="rect">
            <a:avLst/>
          </a:prstGeom>
          <a:solidFill>
            <a:srgbClr val="100808"/>
          </a:solidFill>
          <a:ln w="12700">
            <a:solidFill>
              <a:srgbClr val="00C89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3"/>
          <p:cNvSpPr/>
          <p:nvPr/>
        </p:nvSpPr>
        <p:spPr>
          <a:xfrm>
            <a:off x="3127248" y="3035808"/>
            <a:ext cx="290779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896"/>
                </a:solidFill>
                <a:effectLst/>
                <a:uLnTx/>
                <a:uFillTx/>
                <a:latin typeface="Consolas" pitchFamily="34" charset="0"/>
                <a:ea typeface="Consolas" pitchFamily="34" charset="-122"/>
                <a:cs typeface="Consolas" pitchFamily="34" charset="-120"/>
              </a:rPr>
              <a:t>PhantomGuard.sys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4"/>
          <p:cNvSpPr/>
          <p:nvPr/>
        </p:nvSpPr>
        <p:spPr>
          <a:xfrm>
            <a:off x="3127248" y="3227832"/>
            <a:ext cx="29077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Kernel callback — independent stream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5"/>
          <p:cNvSpPr/>
          <p:nvPr/>
        </p:nvSpPr>
        <p:spPr>
          <a:xfrm>
            <a:off x="3017520" y="3520440"/>
            <a:ext cx="3127248" cy="438912"/>
          </a:xfrm>
          <a:prstGeom prst="rect">
            <a:avLst/>
          </a:prstGeom>
          <a:solidFill>
            <a:srgbClr val="100808"/>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36"/>
          <p:cNvSpPr/>
          <p:nvPr/>
        </p:nvSpPr>
        <p:spPr>
          <a:xfrm>
            <a:off x="3127248" y="3557016"/>
            <a:ext cx="290779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6B35"/>
                </a:solidFill>
                <a:effectLst/>
                <a:uLnTx/>
                <a:uFillTx/>
                <a:latin typeface="Consolas" pitchFamily="34" charset="0"/>
                <a:ea typeface="Consolas" pitchFamily="34" charset="-122"/>
                <a:cs typeface="Consolas" pitchFamily="34" charset="-120"/>
              </a:rPr>
              <a:t>etw_tamper.exe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7"/>
          <p:cNvSpPr/>
          <p:nvPr/>
        </p:nvSpPr>
        <p:spPr>
          <a:xfrm>
            <a:off x="3127248" y="3749040"/>
            <a:ext cx="29077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0xC3 patch → ETW silenced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8"/>
          <p:cNvSpPr/>
          <p:nvPr/>
        </p:nvSpPr>
        <p:spPr>
          <a:xfrm>
            <a:off x="6236207" y="2286000"/>
            <a:ext cx="442939" cy="0"/>
          </a:xfrm>
          <a:prstGeom prst="line">
            <a:avLst/>
          </a:prstGeom>
          <a:noFill/>
          <a:ln w="19050">
            <a:solidFill>
              <a:srgbClr val="00C89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39"/>
          <p:cNvSpPr/>
          <p:nvPr/>
        </p:nvSpPr>
        <p:spPr>
          <a:xfrm>
            <a:off x="6297280" y="1920911"/>
            <a:ext cx="384048"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C896"/>
                </a:solidFill>
                <a:effectLst/>
                <a:uLnTx/>
                <a:uFillTx/>
                <a:latin typeface="Calibri" pitchFamily="34" charset="0"/>
                <a:ea typeface="Calibri" pitchFamily="34" charset="-122"/>
                <a:cs typeface="Calibri" pitchFamily="34" charset="-120"/>
              </a:rPr>
              <a:t>streams</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C896"/>
                </a:solidFill>
                <a:effectLst/>
                <a:uLnTx/>
                <a:uFillTx/>
                <a:latin typeface="Calibri" pitchFamily="34" charset="0"/>
                <a:ea typeface="Calibri" pitchFamily="34" charset="-122"/>
                <a:cs typeface="Calibri" pitchFamily="34" charset="-120"/>
              </a:rPr>
              <a:t>→</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1" name="Group 70">
            <a:extLst>
              <a:ext uri="{FF2B5EF4-FFF2-40B4-BE49-F238E27FC236}">
                <a16:creationId xmlns:a16="http://schemas.microsoft.com/office/drawing/2014/main" id="{9C60861F-029B-1F92-1CDB-7D600BAF924C}"/>
              </a:ext>
            </a:extLst>
          </p:cNvPr>
          <p:cNvGrpSpPr/>
          <p:nvPr/>
        </p:nvGrpSpPr>
        <p:grpSpPr>
          <a:xfrm>
            <a:off x="6697435" y="804672"/>
            <a:ext cx="2359152" cy="3246120"/>
            <a:chOff x="6437376" y="804672"/>
            <a:chExt cx="2359152" cy="3246120"/>
          </a:xfrm>
        </p:grpSpPr>
        <p:sp>
          <p:nvSpPr>
            <p:cNvPr id="47" name="Shape 40"/>
            <p:cNvSpPr/>
            <p:nvPr/>
          </p:nvSpPr>
          <p:spPr>
            <a:xfrm>
              <a:off x="6437376" y="804672"/>
              <a:ext cx="2359152" cy="3246120"/>
            </a:xfrm>
            <a:prstGeom prst="rect">
              <a:avLst/>
            </a:prstGeom>
            <a:solidFill>
              <a:srgbClr val="0A1628"/>
            </a:solidFill>
            <a:ln w="12700">
              <a:solidFill>
                <a:srgbClr val="2D1B4E"/>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1"/>
            <p:cNvSpPr/>
            <p:nvPr/>
          </p:nvSpPr>
          <p:spPr>
            <a:xfrm>
              <a:off x="6437376" y="804672"/>
              <a:ext cx="2359152" cy="36576"/>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9" name="Image 4" descr="preencoded.png"/>
            <p:cNvPicPr>
              <a:picLocks noChangeAspect="1"/>
            </p:cNvPicPr>
            <p:nvPr/>
          </p:nvPicPr>
          <p:blipFill>
            <a:blip r:embed="rId6"/>
            <a:stretch>
              <a:fillRect/>
            </a:stretch>
          </p:blipFill>
          <p:spPr>
            <a:xfrm>
              <a:off x="6565392" y="877824"/>
              <a:ext cx="310896" cy="310896"/>
            </a:xfrm>
            <a:prstGeom prst="rect">
              <a:avLst/>
            </a:prstGeom>
          </p:spPr>
        </p:pic>
        <p:sp>
          <p:nvSpPr>
            <p:cNvPr id="50" name="Text 42"/>
            <p:cNvSpPr/>
            <p:nvPr/>
          </p:nvSpPr>
          <p:spPr>
            <a:xfrm>
              <a:off x="6931152" y="877824"/>
              <a:ext cx="173736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A78BFA"/>
                  </a:solidFill>
                  <a:effectLst/>
                  <a:uLnTx/>
                  <a:uFillTx/>
                  <a:latin typeface="Trebuchet MS" pitchFamily="34" charset="0"/>
                  <a:ea typeface="Trebuchet MS" pitchFamily="34" charset="-122"/>
                  <a:cs typeface="Trebuchet MS" pitchFamily="34" charset="-120"/>
                </a:rPr>
                <a:t>Ubuntu 24.04 VM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3"/>
            <p:cNvSpPr/>
            <p:nvPr/>
          </p:nvSpPr>
          <p:spPr>
            <a:xfrm>
              <a:off x="6931152" y="1115568"/>
              <a:ext cx="1737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A6882"/>
                  </a:solidFill>
                  <a:effectLst/>
                  <a:uLnTx/>
                  <a:uFillTx/>
                  <a:latin typeface="Calibri" pitchFamily="34" charset="0"/>
                  <a:ea typeface="Calibri" pitchFamily="34" charset="-122"/>
                  <a:cs typeface="Calibri" pitchFamily="34" charset="-120"/>
                </a:rPr>
                <a:t>VirtualBox  ·  kernel 6.17  ·  Linux side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44"/>
            <p:cNvSpPr/>
            <p:nvPr/>
          </p:nvSpPr>
          <p:spPr>
            <a:xfrm>
              <a:off x="6510528" y="1389888"/>
              <a:ext cx="2176272" cy="475488"/>
            </a:xfrm>
            <a:prstGeom prst="rect">
              <a:avLst/>
            </a:prstGeom>
            <a:solidFill>
              <a:srgbClr val="060E1C"/>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45"/>
            <p:cNvSpPr/>
            <p:nvPr/>
          </p:nvSpPr>
          <p:spPr>
            <a:xfrm>
              <a:off x="6601968" y="1426464"/>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A78BFA"/>
                  </a:solidFill>
                  <a:effectLst/>
                  <a:uLnTx/>
                  <a:uFillTx/>
                  <a:latin typeface="Calibri" pitchFamily="34" charset="0"/>
                  <a:ea typeface="Calibri" pitchFamily="34" charset="-122"/>
                  <a:cs typeface="Calibri" pitchFamily="34" charset="-120"/>
                </a:rPr>
                <a:t>auditd monitor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46"/>
            <p:cNvSpPr/>
            <p:nvPr/>
          </p:nvSpPr>
          <p:spPr>
            <a:xfrm>
              <a:off x="6601968" y="1627632"/>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execve  ·  phantom_exec tag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47"/>
            <p:cNvSpPr/>
            <p:nvPr/>
          </p:nvSpPr>
          <p:spPr>
            <a:xfrm>
              <a:off x="6510528" y="1956816"/>
              <a:ext cx="2176272" cy="475488"/>
            </a:xfrm>
            <a:prstGeom prst="rect">
              <a:avLst/>
            </a:prstGeom>
            <a:solidFill>
              <a:srgbClr val="060E1C"/>
            </a:solidFill>
            <a:ln w="12700">
              <a:solidFill>
                <a:srgbClr val="00C89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8"/>
            <p:cNvSpPr/>
            <p:nvPr/>
          </p:nvSpPr>
          <p:spPr>
            <a:xfrm>
              <a:off x="6601968" y="1993392"/>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C896"/>
                  </a:solidFill>
                  <a:effectLst/>
                  <a:uLnTx/>
                  <a:uFillTx/>
                  <a:latin typeface="Calibri" pitchFamily="34" charset="0"/>
                  <a:ea typeface="Calibri" pitchFamily="34" charset="-122"/>
                  <a:cs typeface="Calibri" pitchFamily="34" charset="-120"/>
                </a:rPr>
                <a:t>phantom_guard.bt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49"/>
            <p:cNvSpPr/>
            <p:nvPr/>
          </p:nvSpPr>
          <p:spPr>
            <a:xfrm>
              <a:off x="6601968" y="2194560"/>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7A9DB8"/>
                  </a:solidFill>
                  <a:effectLst/>
                  <a:uLnTx/>
                  <a:uFillTx/>
                  <a:latin typeface="Calibri" pitchFamily="34" charset="0"/>
                  <a:ea typeface="Calibri" pitchFamily="34" charset="-122"/>
                  <a:cs typeface="Calibri" pitchFamily="34" charset="-120"/>
                </a:rPr>
                <a:t>eBPF</a:t>
              </a: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 (Extended Berkeley Packet Filter) tracepoint — always 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0"/>
            <p:cNvSpPr/>
            <p:nvPr/>
          </p:nvSpPr>
          <p:spPr>
            <a:xfrm>
              <a:off x="6510528" y="2523744"/>
              <a:ext cx="2176272" cy="475488"/>
            </a:xfrm>
            <a:prstGeom prst="rect">
              <a:avLst/>
            </a:prstGeom>
            <a:solidFill>
              <a:srgbClr val="060E1C"/>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1"/>
            <p:cNvSpPr/>
            <p:nvPr/>
          </p:nvSpPr>
          <p:spPr>
            <a:xfrm>
              <a:off x="6601968" y="2560320"/>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auditctl -e 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2"/>
            <p:cNvSpPr/>
            <p:nvPr/>
          </p:nvSpPr>
          <p:spPr>
            <a:xfrm>
              <a:off x="6601968" y="2761488"/>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Tamper — instant blind spot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3"/>
            <p:cNvSpPr/>
            <p:nvPr/>
          </p:nvSpPr>
          <p:spPr>
            <a:xfrm>
              <a:off x="6510528" y="3090672"/>
              <a:ext cx="2176272" cy="475488"/>
            </a:xfrm>
            <a:prstGeom prst="rect">
              <a:avLst/>
            </a:prstGeom>
            <a:solidFill>
              <a:srgbClr val="060E1C"/>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4"/>
            <p:cNvSpPr/>
            <p:nvPr/>
          </p:nvSpPr>
          <p:spPr>
            <a:xfrm>
              <a:off x="6601968" y="3127248"/>
              <a:ext cx="19933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May 5, 2026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55"/>
            <p:cNvSpPr/>
            <p:nvPr/>
          </p:nvSpPr>
          <p:spPr>
            <a:xfrm>
              <a:off x="6601968" y="3328416"/>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12:56:14 blind spot confirmed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4" name="Shape 56"/>
          <p:cNvSpPr/>
          <p:nvPr/>
        </p:nvSpPr>
        <p:spPr>
          <a:xfrm>
            <a:off x="189591" y="4160520"/>
            <a:ext cx="8866996" cy="658368"/>
          </a:xfrm>
          <a:prstGeom prst="rect">
            <a:avLst/>
          </a:prstGeom>
          <a:solidFill>
            <a:srgbClr val="060D1C"/>
          </a:solidFill>
          <a:ln w="12700">
            <a:solidFill>
              <a:srgbClr val="FFD166"/>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7"/>
          <p:cNvSpPr/>
          <p:nvPr/>
        </p:nvSpPr>
        <p:spPr>
          <a:xfrm>
            <a:off x="189591" y="4151377"/>
            <a:ext cx="8866996" cy="45719"/>
          </a:xfrm>
          <a:prstGeom prst="rect">
            <a:avLst/>
          </a:prstGeom>
          <a:solidFill>
            <a:srgbClr val="FFD166"/>
          </a:solidFill>
          <a:ln w="12700">
            <a:solidFill>
              <a:srgbClr val="FFD1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6" name="Image 5" descr="preencoded.png"/>
          <p:cNvPicPr>
            <a:picLocks noChangeAspect="1"/>
          </p:cNvPicPr>
          <p:nvPr/>
        </p:nvPicPr>
        <p:blipFill>
          <a:blip r:embed="rId7"/>
          <a:stretch>
            <a:fillRect/>
          </a:stretch>
        </p:blipFill>
        <p:spPr>
          <a:xfrm>
            <a:off x="502920" y="4251960"/>
            <a:ext cx="274320" cy="274320"/>
          </a:xfrm>
          <a:prstGeom prst="rect">
            <a:avLst/>
          </a:prstGeom>
        </p:spPr>
      </p:pic>
      <p:sp>
        <p:nvSpPr>
          <p:cNvPr id="67" name="Text 58"/>
          <p:cNvSpPr/>
          <p:nvPr/>
        </p:nvSpPr>
        <p:spPr>
          <a:xfrm>
            <a:off x="822960" y="4233672"/>
            <a:ext cx="2011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D166"/>
                </a:solidFill>
                <a:effectLst/>
                <a:uLnTx/>
                <a:uFillTx/>
                <a:latin typeface="Consolas" pitchFamily="34" charset="0"/>
                <a:ea typeface="Consolas" pitchFamily="34" charset="-122"/>
                <a:cs typeface="Consolas" pitchFamily="34" charset="-120"/>
              </a:rPr>
              <a:t>cross_correlator.py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59"/>
          <p:cNvSpPr/>
          <p:nvPr/>
        </p:nvSpPr>
        <p:spPr>
          <a:xfrm>
            <a:off x="2926080" y="4233672"/>
            <a:ext cx="4754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2-second sliding window  ·  compares Windows VM + Ubuntu streams  ·  flags divergence as a JSON SIEM alert the moment they disagree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0"/>
          <p:cNvSpPr/>
          <p:nvPr/>
        </p:nvSpPr>
        <p:spPr>
          <a:xfrm>
            <a:off x="7772400" y="4242816"/>
            <a:ext cx="914400" cy="475488"/>
          </a:xfrm>
          <a:prstGeom prst="rect">
            <a:avLst/>
          </a:prstGeom>
          <a:solidFill>
            <a:srgbClr val="150808"/>
          </a:solidFill>
          <a:ln w="12700">
            <a:solidFill>
              <a:srgbClr val="E8365D"/>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1"/>
          <p:cNvSpPr/>
          <p:nvPr/>
        </p:nvSpPr>
        <p:spPr>
          <a:xfrm>
            <a:off x="7772400" y="4242816"/>
            <a:ext cx="914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8365D"/>
                </a:solidFill>
                <a:effectLst/>
                <a:uLnTx/>
                <a:uFillTx/>
                <a:latin typeface="Consolas" pitchFamily="34" charset="0"/>
                <a:ea typeface="Consolas" pitchFamily="34" charset="-122"/>
                <a:cs typeface="Consolas" pitchFamily="34" charset="-120"/>
              </a:rPr>
              <a:t>→ ALERT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Was Actually Built - Windows + Linux</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822960"/>
            <a:ext cx="5074920" cy="3913632"/>
          </a:xfrm>
          <a:prstGeom prst="rect">
            <a:avLst/>
          </a:prstGeom>
          <a:solidFill>
            <a:srgbClr val="0A1628"/>
          </a:solidFill>
          <a:ln w="12700">
            <a:solidFill>
              <a:srgbClr val="1E3A5F"/>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3"/>
          <p:cNvSpPr/>
          <p:nvPr/>
        </p:nvSpPr>
        <p:spPr>
          <a:xfrm>
            <a:off x="365760" y="822960"/>
            <a:ext cx="5074920" cy="36576"/>
          </a:xfrm>
          <a:prstGeom prst="rect">
            <a:avLst/>
          </a:prstGeom>
          <a:solidFill>
            <a:srgbClr val="1565C0"/>
          </a:solidFill>
          <a:ln w="12700">
            <a:solidFill>
              <a:srgbClr val="1565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530352" y="886968"/>
            <a:ext cx="292608" cy="292608"/>
          </a:xfrm>
          <a:prstGeom prst="rect">
            <a:avLst/>
          </a:prstGeom>
        </p:spPr>
      </p:pic>
      <p:sp>
        <p:nvSpPr>
          <p:cNvPr id="8" name="Text 4"/>
          <p:cNvSpPr/>
          <p:nvPr/>
        </p:nvSpPr>
        <p:spPr>
          <a:xfrm>
            <a:off x="868680" y="886968"/>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FC3F7"/>
                </a:solidFill>
                <a:effectLst/>
                <a:uLnTx/>
                <a:uFillTx/>
                <a:latin typeface="Trebuchet MS" pitchFamily="34" charset="0"/>
                <a:ea typeface="Trebuchet MS" pitchFamily="34" charset="-122"/>
                <a:cs typeface="Trebuchet MS" pitchFamily="34" charset="-120"/>
              </a:rPr>
              <a:t>Windows 11  —  Six Phases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475488" y="1261872"/>
            <a:ext cx="384048" cy="329184"/>
          </a:xfrm>
          <a:prstGeom prst="rect">
            <a:avLst/>
          </a:prstGeom>
          <a:solidFill>
            <a:srgbClr val="081830"/>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6"/>
          <p:cNvSpPr/>
          <p:nvPr/>
        </p:nvSpPr>
        <p:spPr>
          <a:xfrm>
            <a:off x="475488" y="126187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FF"/>
                </a:solidFill>
                <a:effectLst/>
                <a:uLnTx/>
                <a:uFillTx/>
                <a:latin typeface="Consolas" pitchFamily="34" charset="0"/>
                <a:ea typeface="Consolas" pitchFamily="34" charset="-122"/>
                <a:cs typeface="Consolas" pitchFamily="34" charset="-120"/>
              </a:rPr>
              <a:t>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960120" y="127101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Hello World Kernel Driver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960120" y="146304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Confirmed VS2022 + EWDK + WinDbg over VMnet8 — toolchain proven before anything else.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475488" y="1810512"/>
            <a:ext cx="384048" cy="329184"/>
          </a:xfrm>
          <a:prstGeom prst="rect">
            <a:avLst/>
          </a:prstGeom>
          <a:solidFill>
            <a:srgbClr val="081830"/>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475488" y="181051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FF"/>
                </a:solidFill>
                <a:effectLst/>
                <a:uLnTx/>
                <a:uFillTx/>
                <a:latin typeface="Consolas" pitchFamily="34" charset="0"/>
                <a:ea typeface="Consolas" pitchFamily="34" charset="-122"/>
                <a:cs typeface="Consolas" pitchFamily="34" charset="-120"/>
              </a:rPr>
              <a:t>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960120" y="181965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Python ETW Baseline Monitor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960120" y="201168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Microsoft-Windows-Kernel-Process provider, JSON log per process creation event.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475488" y="2359152"/>
            <a:ext cx="384048" cy="329184"/>
          </a:xfrm>
          <a:prstGeom prst="rect">
            <a:avLst/>
          </a:prstGeom>
          <a:solidFill>
            <a:srgbClr val="081830"/>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4"/>
          <p:cNvSpPr/>
          <p:nvPr/>
        </p:nvSpPr>
        <p:spPr>
          <a:xfrm>
            <a:off x="475488" y="235915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FF"/>
                </a:solidFill>
                <a:effectLst/>
                <a:uLnTx/>
                <a:uFillTx/>
                <a:latin typeface="Consolas" pitchFamily="34" charset="0"/>
                <a:ea typeface="Consolas" pitchFamily="34" charset="-122"/>
                <a:cs typeface="Consolas" pitchFamily="34" charset="-120"/>
              </a:rPr>
              <a:t>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960120" y="236829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 ETW Tamper Tool (etw_tamper.cpp)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960120" y="256032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0xC3 RET patch at EtwEventWrite byte zero in ntdll.dll — ETW silenced in the target process.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7"/>
          <p:cNvSpPr/>
          <p:nvPr/>
        </p:nvSpPr>
        <p:spPr>
          <a:xfrm>
            <a:off x="475488" y="2907792"/>
            <a:ext cx="384048" cy="329184"/>
          </a:xfrm>
          <a:prstGeom prst="rect">
            <a:avLst/>
          </a:prstGeom>
          <a:solidFill>
            <a:srgbClr val="081830"/>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8"/>
          <p:cNvSpPr/>
          <p:nvPr/>
        </p:nvSpPr>
        <p:spPr>
          <a:xfrm>
            <a:off x="475488" y="290779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FF"/>
                </a:solidFill>
                <a:effectLst/>
                <a:uLnTx/>
                <a:uFillTx/>
                <a:latin typeface="Consolas" pitchFamily="34" charset="0"/>
                <a:ea typeface="Consolas" pitchFamily="34" charset="-122"/>
                <a:cs typeface="Consolas"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960120" y="291693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PhantomGuard.sys Kernel Driver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960120" y="310896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PsSetCreateProcessNotifyRoutineEx — independent stream the patch cannot reach.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1"/>
          <p:cNvSpPr/>
          <p:nvPr/>
        </p:nvSpPr>
        <p:spPr>
          <a:xfrm>
            <a:off x="475488" y="3456432"/>
            <a:ext cx="384048" cy="329184"/>
          </a:xfrm>
          <a:prstGeom prst="rect">
            <a:avLst/>
          </a:prstGeom>
          <a:solidFill>
            <a:srgbClr val="081830"/>
          </a:solidFill>
          <a:ln w="12700">
            <a:solidFill>
              <a:srgbClr val="007A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2"/>
          <p:cNvSpPr/>
          <p:nvPr/>
        </p:nvSpPr>
        <p:spPr>
          <a:xfrm>
            <a:off x="475488" y="345643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FF"/>
                </a:solidFill>
                <a:effectLst/>
                <a:uLnTx/>
                <a:uFillTx/>
                <a:latin typeface="Consolas" pitchFamily="34" charset="0"/>
                <a:ea typeface="Consolas" pitchFamily="34" charset="-122"/>
                <a:cs typeface="Consolas" pitchFamily="34" charset="-120"/>
              </a:rPr>
              <a:t>05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960120" y="346557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Python Cross-Correlator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960120" y="365760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2-second sliding window, phantom_alerts.json, T1562.006 attribution in every alert.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5"/>
          <p:cNvSpPr/>
          <p:nvPr/>
        </p:nvSpPr>
        <p:spPr>
          <a:xfrm>
            <a:off x="475488" y="4005072"/>
            <a:ext cx="384048" cy="329184"/>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6"/>
          <p:cNvSpPr/>
          <p:nvPr/>
        </p:nvSpPr>
        <p:spPr>
          <a:xfrm>
            <a:off x="475488" y="4005072"/>
            <a:ext cx="384048"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4091A"/>
                </a:solidFill>
                <a:effectLst/>
                <a:uLnTx/>
                <a:uFillTx/>
                <a:latin typeface="Consolas" pitchFamily="34" charset="0"/>
                <a:ea typeface="Consolas" pitchFamily="34" charset="-122"/>
                <a:cs typeface="Consolas" pitchFamily="34" charset="-120"/>
              </a:rPr>
              <a:t>06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960120" y="4014216"/>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FFFFFF"/>
                </a:solidFill>
                <a:latin typeface="Calibri" pitchFamily="34" charset="0"/>
                <a:ea typeface="Calibri" pitchFamily="34" charset="-122"/>
                <a:cs typeface="Calibri" pitchFamily="34" charset="-120"/>
              </a:rPr>
              <a:t>A </a:t>
            </a: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 Evaluation Suite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960120" y="4206240"/>
            <a:ext cx="43434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Automated test runner + timing side-channel analysis across tampered and clean runs.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9"/>
          <p:cNvSpPr/>
          <p:nvPr/>
        </p:nvSpPr>
        <p:spPr>
          <a:xfrm>
            <a:off x="5623560" y="822960"/>
            <a:ext cx="3154680" cy="2148840"/>
          </a:xfrm>
          <a:prstGeom prst="rect">
            <a:avLst/>
          </a:prstGeom>
          <a:solidFill>
            <a:srgbClr val="0A1628"/>
          </a:solidFill>
          <a:ln w="12700">
            <a:solidFill>
              <a:srgbClr val="2D1B4E"/>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0"/>
          <p:cNvSpPr/>
          <p:nvPr/>
        </p:nvSpPr>
        <p:spPr>
          <a:xfrm>
            <a:off x="5623560" y="822960"/>
            <a:ext cx="3154680" cy="36576"/>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5" name="Image 1" descr="preencoded.png"/>
          <p:cNvPicPr>
            <a:picLocks noChangeAspect="1"/>
          </p:cNvPicPr>
          <p:nvPr/>
        </p:nvPicPr>
        <p:blipFill>
          <a:blip r:embed="rId4"/>
          <a:stretch>
            <a:fillRect/>
          </a:stretch>
        </p:blipFill>
        <p:spPr>
          <a:xfrm>
            <a:off x="5760720" y="886968"/>
            <a:ext cx="292608" cy="292608"/>
          </a:xfrm>
          <a:prstGeom prst="rect">
            <a:avLst/>
          </a:prstGeom>
        </p:spPr>
      </p:pic>
      <p:sp>
        <p:nvSpPr>
          <p:cNvPr id="36" name="Text 31"/>
          <p:cNvSpPr/>
          <p:nvPr/>
        </p:nvSpPr>
        <p:spPr>
          <a:xfrm>
            <a:off x="6099048" y="886968"/>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A78BFA"/>
                </a:solidFill>
                <a:effectLst/>
                <a:uLnTx/>
                <a:uFillTx/>
                <a:latin typeface="Trebuchet MS" pitchFamily="34" charset="0"/>
                <a:ea typeface="Trebuchet MS" pitchFamily="34" charset="-122"/>
                <a:cs typeface="Trebuchet MS" pitchFamily="34" charset="-120"/>
              </a:rPr>
              <a:t>Ubuntu VM  —  Linux Extension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2"/>
          <p:cNvSpPr/>
          <p:nvPr/>
        </p:nvSpPr>
        <p:spPr>
          <a:xfrm>
            <a:off x="5687568" y="1335024"/>
            <a:ext cx="146304" cy="18288"/>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3"/>
          <p:cNvSpPr/>
          <p:nvPr/>
        </p:nvSpPr>
        <p:spPr>
          <a:xfrm>
            <a:off x="5925312" y="1261872"/>
            <a:ext cx="2743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audit_monitor.py v5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4"/>
          <p:cNvSpPr/>
          <p:nvPr/>
        </p:nvSpPr>
        <p:spPr>
          <a:xfrm>
            <a:off x="5925312" y="1463040"/>
            <a:ext cx="27432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tail -f on /var/log/audit/audit.log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5"/>
          <p:cNvSpPr/>
          <p:nvPr/>
        </p:nvSpPr>
        <p:spPr>
          <a:xfrm>
            <a:off x="5687568" y="1737360"/>
            <a:ext cx="146304" cy="18288"/>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6"/>
          <p:cNvSpPr/>
          <p:nvPr/>
        </p:nvSpPr>
        <p:spPr>
          <a:xfrm>
            <a:off x="5925312" y="1664208"/>
            <a:ext cx="2743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phantom_guard.bt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7"/>
          <p:cNvSpPr/>
          <p:nvPr/>
        </p:nvSpPr>
        <p:spPr>
          <a:xfrm>
            <a:off x="5925312" y="1865376"/>
            <a:ext cx="27432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bpftrace eBPF  ·  execve tracepoint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38"/>
          <p:cNvSpPr/>
          <p:nvPr/>
        </p:nvSpPr>
        <p:spPr>
          <a:xfrm>
            <a:off x="5687568" y="2139696"/>
            <a:ext cx="146304" cy="18288"/>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39"/>
          <p:cNvSpPr/>
          <p:nvPr/>
        </p:nvSpPr>
        <p:spPr>
          <a:xfrm>
            <a:off x="5925312" y="2066544"/>
            <a:ext cx="2743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Tamper: auditctl -e 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0"/>
          <p:cNvSpPr/>
          <p:nvPr/>
        </p:nvSpPr>
        <p:spPr>
          <a:xfrm>
            <a:off x="5925312" y="2267712"/>
            <a:ext cx="27432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Root cmd  ·  instant system-wide silence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1"/>
          <p:cNvSpPr/>
          <p:nvPr/>
        </p:nvSpPr>
        <p:spPr>
          <a:xfrm>
            <a:off x="5687568" y="2542032"/>
            <a:ext cx="146304" cy="18288"/>
          </a:xfrm>
          <a:prstGeom prst="rect">
            <a:avLst/>
          </a:prstGeom>
          <a:solidFill>
            <a:srgbClr val="7B61FF"/>
          </a:solidFill>
          <a:ln w="12700">
            <a:solidFill>
              <a:srgbClr val="7B61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2"/>
          <p:cNvSpPr/>
          <p:nvPr/>
        </p:nvSpPr>
        <p:spPr>
          <a:xfrm>
            <a:off x="5925312" y="2468880"/>
            <a:ext cx="2743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Live demo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3"/>
          <p:cNvSpPr/>
          <p:nvPr/>
        </p:nvSpPr>
        <p:spPr>
          <a:xfrm>
            <a:off x="5925312" y="2670048"/>
            <a:ext cx="27432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A9DB8"/>
                </a:solidFill>
                <a:effectLst/>
                <a:uLnTx/>
                <a:uFillTx/>
                <a:latin typeface="Calibri" pitchFamily="34" charset="0"/>
                <a:ea typeface="Calibri" pitchFamily="34" charset="-122"/>
                <a:cs typeface="Calibri" pitchFamily="34" charset="-120"/>
              </a:rPr>
              <a:t>12:56:14, May 5, blind spot confirmed in real time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4"/>
          <p:cNvSpPr/>
          <p:nvPr/>
        </p:nvSpPr>
        <p:spPr>
          <a:xfrm>
            <a:off x="5623560" y="3090672"/>
            <a:ext cx="3154680" cy="1645920"/>
          </a:xfrm>
          <a:prstGeom prst="rect">
            <a:avLst/>
          </a:prstGeom>
          <a:solidFill>
            <a:srgbClr val="050D1A"/>
          </a:solidFill>
          <a:ln w="12700">
            <a:solidFill>
              <a:srgbClr val="007A99"/>
            </a:solidFill>
            <a:prstDash val="solid"/>
          </a:ln>
          <a:effectLst>
            <a:outerShdw blurRad="177800" dist="50800" dir="8100000" algn="bl" rotWithShape="0">
              <a:srgbClr val="000000">
                <a:alpha val="4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5"/>
          <p:cNvSpPr/>
          <p:nvPr/>
        </p:nvSpPr>
        <p:spPr>
          <a:xfrm>
            <a:off x="5742432" y="3145536"/>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D4FF"/>
                </a:solidFill>
                <a:effectLst/>
                <a:uLnTx/>
                <a:uFillTx/>
                <a:latin typeface="Trebuchet MS" pitchFamily="34" charset="0"/>
                <a:ea typeface="Trebuchet MS" pitchFamily="34" charset="-122"/>
                <a:cs typeface="Trebuchet MS" pitchFamily="34" charset="-120"/>
              </a:rPr>
              <a:t>Tools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6"/>
          <p:cNvSpPr/>
          <p:nvPr/>
        </p:nvSpPr>
        <p:spPr>
          <a:xfrm>
            <a:off x="5742432" y="3474720"/>
            <a:ext cx="2926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C++  ·  Visual Studio 2022 Community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7"/>
          <p:cNvSpPr/>
          <p:nvPr/>
        </p:nvSpPr>
        <p:spPr>
          <a:xfrm>
            <a:off x="5742432" y="3712464"/>
            <a:ext cx="2926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WDK 11  ·  EWDK  ·  WinDbg Preview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8"/>
          <p:cNvSpPr/>
          <p:nvPr/>
        </p:nvSpPr>
        <p:spPr>
          <a:xfrm>
            <a:off x="5742432" y="3950208"/>
            <a:ext cx="2926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Python 3.11  ·  pywin32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49"/>
          <p:cNvSpPr/>
          <p:nvPr/>
        </p:nvSpPr>
        <p:spPr>
          <a:xfrm>
            <a:off x="5742432" y="4187952"/>
            <a:ext cx="2926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bpftrace  ·  eBPF  ·  auditd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0"/>
          <p:cNvSpPr/>
          <p:nvPr/>
        </p:nvSpPr>
        <p:spPr>
          <a:xfrm>
            <a:off x="5742432" y="4425696"/>
            <a:ext cx="29260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8D4E8"/>
                </a:solidFill>
                <a:effectLst/>
                <a:uLnTx/>
                <a:uFillTx/>
                <a:latin typeface="Calibri" pitchFamily="34" charset="0"/>
                <a:ea typeface="Calibri" pitchFamily="34" charset="-122"/>
                <a:cs typeface="Calibri" pitchFamily="34" charset="-120"/>
              </a:rPr>
              <a:t>VirtualBox  ·  VMware (debug target)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FF6B35"/>
          </a:solidFill>
          <a:ln w="12700">
            <a:solidFill>
              <a:srgbClr val="FF6B35"/>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 Observation #1 - Windows Fought Back</a:t>
            </a:r>
            <a:endParaRPr lang="en-US" sz="2100" dirty="0"/>
          </a:p>
        </p:txBody>
      </p:sp>
      <p:grpSp>
        <p:nvGrpSpPr>
          <p:cNvPr id="2" name="Group 1">
            <a:extLst>
              <a:ext uri="{FF2B5EF4-FFF2-40B4-BE49-F238E27FC236}">
                <a16:creationId xmlns:a16="http://schemas.microsoft.com/office/drawing/2014/main" id="{E7EACD68-4701-9CDC-80D6-5044784793D7}"/>
              </a:ext>
            </a:extLst>
          </p:cNvPr>
          <p:cNvGrpSpPr/>
          <p:nvPr/>
        </p:nvGrpSpPr>
        <p:grpSpPr>
          <a:xfrm>
            <a:off x="7863840" y="164592"/>
            <a:ext cx="914400" cy="566928"/>
            <a:chOff x="7863840" y="164592"/>
            <a:chExt cx="914400" cy="566928"/>
          </a:xfrm>
        </p:grpSpPr>
        <p:sp>
          <p:nvSpPr>
            <p:cNvPr id="5" name="Shape 2"/>
            <p:cNvSpPr/>
            <p:nvPr/>
          </p:nvSpPr>
          <p:spPr>
            <a:xfrm>
              <a:off x="7863840" y="164592"/>
              <a:ext cx="914400" cy="566928"/>
            </a:xfrm>
            <a:prstGeom prst="rect">
              <a:avLst/>
            </a:prstGeom>
            <a:solidFill>
              <a:srgbClr val="0E1E3A"/>
            </a:solidFill>
            <a:ln w="12700">
              <a:solidFill>
                <a:srgbClr val="FF6B35"/>
              </a:solidFill>
              <a:prstDash val="solid"/>
            </a:ln>
          </p:spPr>
          <p:txBody>
            <a:bodyPr/>
            <a:lstStyle/>
            <a:p>
              <a:endParaRPr lang="en-US" dirty="0"/>
            </a:p>
          </p:txBody>
        </p:sp>
        <p:sp>
          <p:nvSpPr>
            <p:cNvPr id="6" name="Text 3"/>
            <p:cNvSpPr/>
            <p:nvPr/>
          </p:nvSpPr>
          <p:spPr>
            <a:xfrm>
              <a:off x="7863840" y="164592"/>
              <a:ext cx="914400" cy="274320"/>
            </a:xfrm>
            <a:prstGeom prst="rect">
              <a:avLst/>
            </a:prstGeom>
            <a:noFill/>
            <a:ln/>
          </p:spPr>
          <p:txBody>
            <a:bodyPr wrap="square" lIns="0" tIns="0" rIns="0" bIns="0" rtlCol="0" anchor="ctr"/>
            <a:lstStyle/>
            <a:p>
              <a:pPr marL="0" indent="0" algn="ctr">
                <a:buNone/>
              </a:pPr>
              <a:r>
                <a:rPr lang="en-US" sz="700" b="1" dirty="0">
                  <a:solidFill>
                    <a:srgbClr val="FF6B35"/>
                  </a:solidFill>
                  <a:latin typeface="Consolas" pitchFamily="34" charset="0"/>
                </a:rPr>
                <a:t>CASE</a:t>
              </a:r>
              <a:endParaRPr lang="en-US" sz="700" dirty="0"/>
            </a:p>
          </p:txBody>
        </p:sp>
        <p:sp>
          <p:nvSpPr>
            <p:cNvPr id="7" name="Text 4"/>
            <p:cNvSpPr/>
            <p:nvPr/>
          </p:nvSpPr>
          <p:spPr>
            <a:xfrm>
              <a:off x="7863840" y="402336"/>
              <a:ext cx="914400" cy="329184"/>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01</a:t>
              </a:r>
              <a:endParaRPr lang="en-US" sz="2200" dirty="0"/>
            </a:p>
          </p:txBody>
        </p:sp>
      </p:grpSp>
      <p:sp>
        <p:nvSpPr>
          <p:cNvPr id="8" name="Shape 5"/>
          <p:cNvSpPr/>
          <p:nvPr/>
        </p:nvSpPr>
        <p:spPr>
          <a:xfrm>
            <a:off x="365760" y="804672"/>
            <a:ext cx="3858768" cy="4041648"/>
          </a:xfrm>
          <a:prstGeom prst="rect">
            <a:avLst/>
          </a:prstGeom>
          <a:solidFill>
            <a:srgbClr val="0A1628"/>
          </a:solidFill>
          <a:ln w="12700">
            <a:solidFill>
              <a:srgbClr val="1E3A5F"/>
            </a:solidFill>
            <a:prstDash val="solid"/>
          </a:ln>
          <a:effectLst>
            <a:outerShdw blurRad="203200" dist="50800" dir="8100000" algn="bl" rotWithShape="0">
              <a:srgbClr val="000000">
                <a:alpha val="45000"/>
              </a:srgbClr>
            </a:outerShdw>
          </a:effectLst>
        </p:spPr>
        <p:txBody>
          <a:bodyPr/>
          <a:lstStyle/>
          <a:p>
            <a:endParaRPr lang="en-US"/>
          </a:p>
        </p:txBody>
      </p:sp>
      <p:sp>
        <p:nvSpPr>
          <p:cNvPr id="9" name="Shape 6"/>
          <p:cNvSpPr/>
          <p:nvPr/>
        </p:nvSpPr>
        <p:spPr>
          <a:xfrm>
            <a:off x="365760" y="804672"/>
            <a:ext cx="3858768" cy="36576"/>
          </a:xfrm>
          <a:prstGeom prst="rect">
            <a:avLst/>
          </a:prstGeom>
          <a:solidFill>
            <a:srgbClr val="1565C0"/>
          </a:solidFill>
          <a:ln w="12700">
            <a:solidFill>
              <a:srgbClr val="1565C0"/>
            </a:solidFill>
            <a:prstDash val="solid"/>
          </a:ln>
        </p:spPr>
        <p:txBody>
          <a:bodyPr/>
          <a:lstStyle/>
          <a:p>
            <a:endParaRPr lang="en-US"/>
          </a:p>
        </p:txBody>
      </p:sp>
      <p:sp>
        <p:nvSpPr>
          <p:cNvPr id="10" name="Text 7"/>
          <p:cNvSpPr/>
          <p:nvPr/>
        </p:nvSpPr>
        <p:spPr>
          <a:xfrm>
            <a:off x="502920" y="877824"/>
            <a:ext cx="3566160" cy="274320"/>
          </a:xfrm>
          <a:prstGeom prst="rect">
            <a:avLst/>
          </a:prstGeom>
          <a:noFill/>
          <a:ln/>
        </p:spPr>
        <p:txBody>
          <a:bodyPr wrap="square" lIns="0" tIns="0" rIns="0" bIns="0" rtlCol="0" anchor="ctr"/>
          <a:lstStyle/>
          <a:p>
            <a:pPr marL="0" indent="0">
              <a:buNone/>
            </a:pPr>
            <a:r>
              <a:rPr lang="en-US" sz="1200" b="1" dirty="0">
                <a:solidFill>
                  <a:srgbClr val="4FC3F7"/>
                </a:solidFill>
                <a:latin typeface="Trebuchet MS" pitchFamily="34" charset="0"/>
                <a:ea typeface="Trebuchet MS" pitchFamily="34" charset="-122"/>
                <a:cs typeface="Trebuchet MS" pitchFamily="34" charset="-120"/>
              </a:rPr>
              <a:t>The Attack</a:t>
            </a:r>
            <a:endParaRPr lang="en-US" sz="1200" dirty="0"/>
          </a:p>
        </p:txBody>
      </p:sp>
      <p:sp>
        <p:nvSpPr>
          <p:cNvPr id="11" name="Shape 8"/>
          <p:cNvSpPr/>
          <p:nvPr/>
        </p:nvSpPr>
        <p:spPr>
          <a:xfrm>
            <a:off x="475488" y="1234440"/>
            <a:ext cx="3621024" cy="548640"/>
          </a:xfrm>
          <a:prstGeom prst="rect">
            <a:avLst/>
          </a:prstGeom>
          <a:solidFill>
            <a:srgbClr val="060E1C"/>
          </a:solidFill>
          <a:ln w="12700">
            <a:solidFill>
              <a:srgbClr val="007A99"/>
            </a:solidFill>
            <a:prstDash val="solid"/>
          </a:ln>
          <a:effectLst>
            <a:outerShdw blurRad="203200" dist="50800" dir="8100000" algn="bl" rotWithShape="0">
              <a:srgbClr val="000000">
                <a:alpha val="45000"/>
              </a:srgbClr>
            </a:outerShdw>
          </a:effectLst>
        </p:spPr>
        <p:txBody>
          <a:bodyPr/>
          <a:lstStyle/>
          <a:p>
            <a:endParaRPr lang="en-US"/>
          </a:p>
        </p:txBody>
      </p:sp>
      <p:sp>
        <p:nvSpPr>
          <p:cNvPr id="12" name="Shape 9"/>
          <p:cNvSpPr/>
          <p:nvPr/>
        </p:nvSpPr>
        <p:spPr>
          <a:xfrm>
            <a:off x="475488" y="1234440"/>
            <a:ext cx="329184" cy="548640"/>
          </a:xfrm>
          <a:prstGeom prst="rect">
            <a:avLst/>
          </a:prstGeom>
          <a:solidFill>
            <a:srgbClr val="007A99"/>
          </a:solidFill>
          <a:ln w="12700">
            <a:solidFill>
              <a:srgbClr val="007A99"/>
            </a:solidFill>
            <a:prstDash val="solid"/>
          </a:ln>
        </p:spPr>
        <p:txBody>
          <a:bodyPr/>
          <a:lstStyle/>
          <a:p>
            <a:endParaRPr lang="en-US"/>
          </a:p>
        </p:txBody>
      </p:sp>
      <p:sp>
        <p:nvSpPr>
          <p:cNvPr id="13" name="Text 10"/>
          <p:cNvSpPr/>
          <p:nvPr/>
        </p:nvSpPr>
        <p:spPr>
          <a:xfrm>
            <a:off x="475488" y="1234440"/>
            <a:ext cx="329184" cy="548640"/>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01</a:t>
            </a:r>
            <a:endParaRPr lang="en-US" sz="700" dirty="0"/>
          </a:p>
        </p:txBody>
      </p:sp>
      <p:sp>
        <p:nvSpPr>
          <p:cNvPr id="14" name="Text 11"/>
          <p:cNvSpPr/>
          <p:nvPr/>
        </p:nvSpPr>
        <p:spPr>
          <a:xfrm>
            <a:off x="877824" y="1271016"/>
            <a:ext cx="312724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Located EtwEventWrite in ntdll.dll</a:t>
            </a:r>
            <a:endParaRPr lang="en-US" sz="1100" dirty="0"/>
          </a:p>
        </p:txBody>
      </p:sp>
      <p:sp>
        <p:nvSpPr>
          <p:cNvPr id="15" name="Text 12"/>
          <p:cNvSpPr/>
          <p:nvPr/>
        </p:nvSpPr>
        <p:spPr>
          <a:xfrm>
            <a:off x="877824" y="1472184"/>
            <a:ext cx="3127248" cy="256032"/>
          </a:xfrm>
          <a:prstGeom prst="rect">
            <a:avLst/>
          </a:prstGeom>
          <a:noFill/>
          <a:ln/>
        </p:spPr>
        <p:txBody>
          <a:bodyPr wrap="square" lIns="0" tIns="0" rIns="0" bIns="0" rtlCol="0" anchor="ctr"/>
          <a:lstStyle/>
          <a:p>
            <a:pPr marL="0" indent="0">
              <a:buNone/>
            </a:pPr>
            <a:r>
              <a:rPr lang="en-US" sz="900" dirty="0">
                <a:solidFill>
                  <a:srgbClr val="7A9DB8"/>
                </a:solidFill>
                <a:latin typeface="Calibri" pitchFamily="34" charset="0"/>
                <a:ea typeface="Calibri" pitchFamily="34" charset="-122"/>
                <a:cs typeface="Calibri" pitchFamily="34" charset="-120"/>
              </a:rPr>
              <a:t>The function Windows uses to send every security event into the ETW pipeline</a:t>
            </a:r>
            <a:endParaRPr lang="en-US" sz="900" dirty="0"/>
          </a:p>
        </p:txBody>
      </p:sp>
      <p:sp>
        <p:nvSpPr>
          <p:cNvPr id="16" name="Shape 13"/>
          <p:cNvSpPr/>
          <p:nvPr/>
        </p:nvSpPr>
        <p:spPr>
          <a:xfrm>
            <a:off x="475488" y="1865376"/>
            <a:ext cx="3621024" cy="914400"/>
          </a:xfrm>
          <a:prstGeom prst="rect">
            <a:avLst/>
          </a:prstGeom>
          <a:solidFill>
            <a:srgbClr val="060E1C"/>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17" name="Shape 14"/>
          <p:cNvSpPr/>
          <p:nvPr/>
        </p:nvSpPr>
        <p:spPr>
          <a:xfrm>
            <a:off x="475488" y="1865376"/>
            <a:ext cx="329184" cy="914400"/>
          </a:xfrm>
          <a:prstGeom prst="rect">
            <a:avLst/>
          </a:prstGeom>
          <a:solidFill>
            <a:srgbClr val="FF6B35"/>
          </a:solidFill>
          <a:ln w="12700">
            <a:solidFill>
              <a:srgbClr val="FF6B35"/>
            </a:solidFill>
            <a:prstDash val="solid"/>
          </a:ln>
        </p:spPr>
        <p:txBody>
          <a:bodyPr/>
          <a:lstStyle/>
          <a:p>
            <a:endParaRPr lang="en-US"/>
          </a:p>
        </p:txBody>
      </p:sp>
      <p:sp>
        <p:nvSpPr>
          <p:cNvPr id="18" name="Text 15"/>
          <p:cNvSpPr/>
          <p:nvPr/>
        </p:nvSpPr>
        <p:spPr>
          <a:xfrm>
            <a:off x="475488" y="1865376"/>
            <a:ext cx="329184" cy="914400"/>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02</a:t>
            </a:r>
            <a:endParaRPr lang="en-US" sz="700" dirty="0"/>
          </a:p>
        </p:txBody>
      </p:sp>
      <p:sp>
        <p:nvSpPr>
          <p:cNvPr id="19" name="Text 16"/>
          <p:cNvSpPr/>
          <p:nvPr/>
        </p:nvSpPr>
        <p:spPr>
          <a:xfrm>
            <a:off x="877824" y="1901952"/>
            <a:ext cx="3127248" cy="201168"/>
          </a:xfrm>
          <a:prstGeom prst="rect">
            <a:avLst/>
          </a:prstGeom>
          <a:noFill/>
          <a:ln/>
        </p:spPr>
        <p:txBody>
          <a:bodyPr wrap="square" lIns="0" tIns="0" rIns="0" bIns="0"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Changed one byte in memory</a:t>
            </a:r>
            <a:endParaRPr lang="en-US" sz="1100" dirty="0"/>
          </a:p>
        </p:txBody>
      </p:sp>
      <p:sp>
        <p:nvSpPr>
          <p:cNvPr id="20" name="Shape 17"/>
          <p:cNvSpPr/>
          <p:nvPr/>
        </p:nvSpPr>
        <p:spPr>
          <a:xfrm>
            <a:off x="877824" y="2139696"/>
            <a:ext cx="1389888" cy="530352"/>
          </a:xfrm>
          <a:prstGeom prst="rect">
            <a:avLst/>
          </a:prstGeom>
          <a:solidFill>
            <a:srgbClr val="0A1422"/>
          </a:solidFill>
          <a:ln w="12700">
            <a:solidFill>
              <a:srgbClr val="007A99"/>
            </a:solidFill>
            <a:prstDash val="solid"/>
          </a:ln>
          <a:effectLst>
            <a:outerShdw blurRad="203200" dist="50800" dir="8100000" algn="bl" rotWithShape="0">
              <a:srgbClr val="000000">
                <a:alpha val="45000"/>
              </a:srgbClr>
            </a:outerShdw>
          </a:effectLst>
        </p:spPr>
        <p:txBody>
          <a:bodyPr/>
          <a:lstStyle/>
          <a:p>
            <a:endParaRPr lang="en-US"/>
          </a:p>
        </p:txBody>
      </p:sp>
      <p:sp>
        <p:nvSpPr>
          <p:cNvPr id="21" name="Text 18"/>
          <p:cNvSpPr/>
          <p:nvPr/>
        </p:nvSpPr>
        <p:spPr>
          <a:xfrm>
            <a:off x="877824" y="2157984"/>
            <a:ext cx="1389888" cy="164592"/>
          </a:xfrm>
          <a:prstGeom prst="rect">
            <a:avLst/>
          </a:prstGeom>
          <a:noFill/>
          <a:ln/>
        </p:spPr>
        <p:txBody>
          <a:bodyPr wrap="square" lIns="0" tIns="0" rIns="0" bIns="0" rtlCol="0" anchor="ctr"/>
          <a:lstStyle/>
          <a:p>
            <a:pPr marL="0" indent="0" algn="ctr">
              <a:buNone/>
            </a:pPr>
            <a:r>
              <a:rPr lang="en-US" sz="750" b="1" dirty="0">
                <a:solidFill>
                  <a:srgbClr val="7A9DB8"/>
                </a:solidFill>
                <a:latin typeface="Consolas" pitchFamily="34" charset="0"/>
                <a:ea typeface="Consolas" pitchFamily="34" charset="-122"/>
                <a:cs typeface="Consolas" pitchFamily="34" charset="-120"/>
              </a:rPr>
              <a:t>BEFORE</a:t>
            </a:r>
            <a:endParaRPr lang="en-US" sz="750" dirty="0"/>
          </a:p>
        </p:txBody>
      </p:sp>
      <p:sp>
        <p:nvSpPr>
          <p:cNvPr id="22" name="Text 19"/>
          <p:cNvSpPr/>
          <p:nvPr/>
        </p:nvSpPr>
        <p:spPr>
          <a:xfrm>
            <a:off x="877824" y="2322576"/>
            <a:ext cx="1389888" cy="256032"/>
          </a:xfrm>
          <a:prstGeom prst="rect">
            <a:avLst/>
          </a:prstGeom>
          <a:noFill/>
          <a:ln/>
        </p:spPr>
        <p:txBody>
          <a:bodyPr wrap="square" lIns="0" tIns="0" rIns="0" bIns="0" rtlCol="0" anchor="ctr"/>
          <a:lstStyle/>
          <a:p>
            <a:pPr marL="0" indent="0" algn="ctr">
              <a:buNone/>
            </a:pPr>
            <a:r>
              <a:rPr lang="en-US" sz="1000" dirty="0">
                <a:solidFill>
                  <a:srgbClr val="B8D4E8"/>
                </a:solidFill>
                <a:latin typeface="Consolas" pitchFamily="34" charset="0"/>
                <a:ea typeface="Consolas" pitchFamily="34" charset="-122"/>
                <a:cs typeface="Consolas" pitchFamily="34" charset="-120"/>
              </a:rPr>
              <a:t>0x40  PUSH rax</a:t>
            </a:r>
            <a:endParaRPr lang="en-US" sz="1000" dirty="0"/>
          </a:p>
        </p:txBody>
      </p:sp>
      <p:sp>
        <p:nvSpPr>
          <p:cNvPr id="23" name="Shape 20"/>
          <p:cNvSpPr/>
          <p:nvPr/>
        </p:nvSpPr>
        <p:spPr>
          <a:xfrm>
            <a:off x="2322576" y="2404872"/>
            <a:ext cx="256032" cy="0"/>
          </a:xfrm>
          <a:prstGeom prst="line">
            <a:avLst/>
          </a:prstGeom>
          <a:noFill/>
          <a:ln w="25400">
            <a:solidFill>
              <a:srgbClr val="FF6B35"/>
            </a:solidFill>
            <a:prstDash val="solid"/>
          </a:ln>
        </p:spPr>
        <p:txBody>
          <a:bodyPr/>
          <a:lstStyle/>
          <a:p>
            <a:endParaRPr lang="en-US"/>
          </a:p>
        </p:txBody>
      </p:sp>
      <p:sp>
        <p:nvSpPr>
          <p:cNvPr id="24" name="Text 21"/>
          <p:cNvSpPr/>
          <p:nvPr/>
        </p:nvSpPr>
        <p:spPr>
          <a:xfrm>
            <a:off x="2377440" y="2331720"/>
            <a:ext cx="182880" cy="182880"/>
          </a:xfrm>
          <a:prstGeom prst="rect">
            <a:avLst/>
          </a:prstGeom>
          <a:noFill/>
          <a:ln/>
        </p:spPr>
        <p:txBody>
          <a:bodyPr wrap="square" lIns="0" tIns="0" rIns="0" bIns="0" rtlCol="0" anchor="ctr"/>
          <a:lstStyle/>
          <a:p>
            <a:pPr marL="0" indent="0" algn="ctr">
              <a:buNone/>
            </a:pPr>
            <a:r>
              <a:rPr lang="en-US" sz="1200" b="1" dirty="0">
                <a:solidFill>
                  <a:srgbClr val="FF6B35"/>
                </a:solidFill>
                <a:latin typeface="Calibri" pitchFamily="34" charset="0"/>
                <a:ea typeface="Calibri" pitchFamily="34" charset="-122"/>
                <a:cs typeface="Calibri" pitchFamily="34" charset="-120"/>
              </a:rPr>
              <a:t>→</a:t>
            </a:r>
            <a:endParaRPr lang="en-US" sz="1200" dirty="0"/>
          </a:p>
        </p:txBody>
      </p:sp>
      <p:sp>
        <p:nvSpPr>
          <p:cNvPr id="25" name="Shape 22"/>
          <p:cNvSpPr/>
          <p:nvPr/>
        </p:nvSpPr>
        <p:spPr>
          <a:xfrm>
            <a:off x="2633472" y="2139696"/>
            <a:ext cx="1389888" cy="530352"/>
          </a:xfrm>
          <a:prstGeom prst="rect">
            <a:avLst/>
          </a:prstGeom>
          <a:solidFill>
            <a:srgbClr val="150808"/>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26" name="Text 23"/>
          <p:cNvSpPr/>
          <p:nvPr/>
        </p:nvSpPr>
        <p:spPr>
          <a:xfrm>
            <a:off x="2633472" y="2157984"/>
            <a:ext cx="1389888" cy="164592"/>
          </a:xfrm>
          <a:prstGeom prst="rect">
            <a:avLst/>
          </a:prstGeom>
          <a:noFill/>
          <a:ln/>
        </p:spPr>
        <p:txBody>
          <a:bodyPr wrap="square" lIns="0" tIns="0" rIns="0" bIns="0" rtlCol="0" anchor="ctr"/>
          <a:lstStyle/>
          <a:p>
            <a:pPr marL="0" indent="0" algn="ctr">
              <a:buNone/>
            </a:pPr>
            <a:r>
              <a:rPr lang="en-US" sz="750" b="1" dirty="0">
                <a:solidFill>
                  <a:srgbClr val="FF6B35"/>
                </a:solidFill>
                <a:latin typeface="Consolas" pitchFamily="34" charset="0"/>
                <a:ea typeface="Consolas" pitchFamily="34" charset="-122"/>
                <a:cs typeface="Consolas" pitchFamily="34" charset="-120"/>
              </a:rPr>
              <a:t>AFTER</a:t>
            </a:r>
            <a:endParaRPr lang="en-US" sz="750" dirty="0"/>
          </a:p>
        </p:txBody>
      </p:sp>
      <p:sp>
        <p:nvSpPr>
          <p:cNvPr id="27" name="Text 24"/>
          <p:cNvSpPr/>
          <p:nvPr/>
        </p:nvSpPr>
        <p:spPr>
          <a:xfrm>
            <a:off x="2633472" y="2322576"/>
            <a:ext cx="1389888" cy="256032"/>
          </a:xfrm>
          <a:prstGeom prst="rect">
            <a:avLst/>
          </a:prstGeom>
          <a:noFill/>
          <a:ln/>
        </p:spPr>
        <p:txBody>
          <a:bodyPr wrap="square" lIns="0" tIns="0" rIns="0" bIns="0" rtlCol="0" anchor="ctr"/>
          <a:lstStyle/>
          <a:p>
            <a:pPr marL="0" indent="0" algn="ctr">
              <a:buNone/>
            </a:pPr>
            <a:r>
              <a:rPr lang="en-US" sz="1000" b="1" dirty="0">
                <a:solidFill>
                  <a:srgbClr val="FF6B35"/>
                </a:solidFill>
                <a:latin typeface="Consolas" pitchFamily="34" charset="0"/>
                <a:ea typeface="Consolas" pitchFamily="34" charset="-122"/>
                <a:cs typeface="Consolas" pitchFamily="34" charset="-120"/>
              </a:rPr>
              <a:t>0xC3  RET</a:t>
            </a:r>
            <a:endParaRPr lang="en-US" sz="1000" dirty="0"/>
          </a:p>
        </p:txBody>
      </p:sp>
      <p:sp>
        <p:nvSpPr>
          <p:cNvPr id="28" name="Shape 25"/>
          <p:cNvSpPr/>
          <p:nvPr/>
        </p:nvSpPr>
        <p:spPr>
          <a:xfrm>
            <a:off x="475488" y="2862072"/>
            <a:ext cx="3621024" cy="475488"/>
          </a:xfrm>
          <a:prstGeom prst="rect">
            <a:avLst/>
          </a:prstGeom>
          <a:solidFill>
            <a:srgbClr val="060E1C"/>
          </a:solidFill>
          <a:ln w="12700">
            <a:solidFill>
              <a:srgbClr val="4A6882"/>
            </a:solidFill>
            <a:prstDash val="solid"/>
          </a:ln>
          <a:effectLst>
            <a:outerShdw blurRad="203200" dist="50800" dir="8100000" algn="bl" rotWithShape="0">
              <a:srgbClr val="000000">
                <a:alpha val="45000"/>
              </a:srgbClr>
            </a:outerShdw>
          </a:effectLst>
        </p:spPr>
        <p:txBody>
          <a:bodyPr/>
          <a:lstStyle/>
          <a:p>
            <a:endParaRPr lang="en-US"/>
          </a:p>
        </p:txBody>
      </p:sp>
      <p:sp>
        <p:nvSpPr>
          <p:cNvPr id="29" name="Shape 26"/>
          <p:cNvSpPr/>
          <p:nvPr/>
        </p:nvSpPr>
        <p:spPr>
          <a:xfrm>
            <a:off x="475488" y="2862072"/>
            <a:ext cx="329184" cy="475488"/>
          </a:xfrm>
          <a:prstGeom prst="rect">
            <a:avLst/>
          </a:prstGeom>
          <a:solidFill>
            <a:srgbClr val="4A6882"/>
          </a:solidFill>
          <a:ln w="12700">
            <a:solidFill>
              <a:srgbClr val="4A6882"/>
            </a:solidFill>
            <a:prstDash val="solid"/>
          </a:ln>
        </p:spPr>
        <p:txBody>
          <a:bodyPr/>
          <a:lstStyle/>
          <a:p>
            <a:endParaRPr lang="en-US"/>
          </a:p>
        </p:txBody>
      </p:sp>
      <p:sp>
        <p:nvSpPr>
          <p:cNvPr id="30" name="Text 27"/>
          <p:cNvSpPr/>
          <p:nvPr/>
        </p:nvSpPr>
        <p:spPr>
          <a:xfrm>
            <a:off x="475488" y="2862072"/>
            <a:ext cx="329184" cy="475488"/>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03</a:t>
            </a:r>
            <a:endParaRPr lang="en-US" sz="700" dirty="0"/>
          </a:p>
        </p:txBody>
      </p:sp>
      <p:sp>
        <p:nvSpPr>
          <p:cNvPr id="31" name="Text 28"/>
          <p:cNvSpPr/>
          <p:nvPr/>
        </p:nvSpPr>
        <p:spPr>
          <a:xfrm>
            <a:off x="877824" y="2898648"/>
            <a:ext cx="3127248" cy="201168"/>
          </a:xfrm>
          <a:prstGeom prst="rect">
            <a:avLst/>
          </a:prstGeom>
          <a:noFill/>
          <a:ln/>
        </p:spPr>
        <p:txBody>
          <a:bodyPr wrap="square" lIns="0" tIns="0" rIns="0" bIns="0" rtlCol="0" anchor="ctr"/>
          <a:lstStyle/>
          <a:p>
            <a:pPr marL="0" indent="0">
              <a:buNone/>
            </a:pPr>
            <a:r>
              <a:rPr lang="en-US" sz="1100" b="1" dirty="0">
                <a:solidFill>
                  <a:srgbClr val="7A9DB8"/>
                </a:solidFill>
                <a:latin typeface="Calibri" pitchFamily="34" charset="0"/>
                <a:ea typeface="Calibri" pitchFamily="34" charset="-122"/>
                <a:cs typeface="Calibri" pitchFamily="34" charset="-120"/>
              </a:rPr>
              <a:t>Expected: complete silence</a:t>
            </a:r>
            <a:endParaRPr lang="en-US" sz="1100" dirty="0"/>
          </a:p>
        </p:txBody>
      </p:sp>
      <p:sp>
        <p:nvSpPr>
          <p:cNvPr id="32" name="Text 29"/>
          <p:cNvSpPr/>
          <p:nvPr/>
        </p:nvSpPr>
        <p:spPr>
          <a:xfrm>
            <a:off x="877824" y="3099816"/>
            <a:ext cx="3127248" cy="201168"/>
          </a:xfrm>
          <a:prstGeom prst="rect">
            <a:avLst/>
          </a:prstGeom>
          <a:noFill/>
          <a:ln/>
        </p:spPr>
        <p:txBody>
          <a:bodyPr wrap="square" lIns="0" tIns="0" rIns="0" bIns="0" rtlCol="0" anchor="ctr"/>
          <a:lstStyle/>
          <a:p>
            <a:pPr marL="0" indent="0">
              <a:buNone/>
            </a:pPr>
            <a:r>
              <a:rPr lang="en-US" sz="900" dirty="0">
                <a:solidFill>
                  <a:srgbClr val="4A6882"/>
                </a:solidFill>
                <a:latin typeface="Calibri" pitchFamily="34" charset="0"/>
                <a:ea typeface="Calibri" pitchFamily="34" charset="-122"/>
                <a:cs typeface="Calibri" pitchFamily="34" charset="-120"/>
              </a:rPr>
              <a:t>ETW stream goes dark — no events logged from affected process</a:t>
            </a:r>
            <a:endParaRPr lang="en-US" sz="900" dirty="0"/>
          </a:p>
        </p:txBody>
      </p:sp>
      <p:sp>
        <p:nvSpPr>
          <p:cNvPr id="33" name="Shape 30"/>
          <p:cNvSpPr/>
          <p:nvPr/>
        </p:nvSpPr>
        <p:spPr>
          <a:xfrm>
            <a:off x="475488" y="3419856"/>
            <a:ext cx="3621024" cy="475488"/>
          </a:xfrm>
          <a:prstGeom prst="rect">
            <a:avLst/>
          </a:prstGeom>
          <a:solidFill>
            <a:srgbClr val="150A04"/>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34" name="Shape 31"/>
          <p:cNvSpPr/>
          <p:nvPr/>
        </p:nvSpPr>
        <p:spPr>
          <a:xfrm>
            <a:off x="475488" y="3419856"/>
            <a:ext cx="329184" cy="475488"/>
          </a:xfrm>
          <a:prstGeom prst="rect">
            <a:avLst/>
          </a:prstGeom>
          <a:solidFill>
            <a:srgbClr val="FF6B35"/>
          </a:solidFill>
          <a:ln w="12700">
            <a:solidFill>
              <a:srgbClr val="FF6B35"/>
            </a:solidFill>
            <a:prstDash val="solid"/>
          </a:ln>
        </p:spPr>
        <p:txBody>
          <a:bodyPr/>
          <a:lstStyle/>
          <a:p>
            <a:endParaRPr lang="en-US"/>
          </a:p>
        </p:txBody>
      </p:sp>
      <p:sp>
        <p:nvSpPr>
          <p:cNvPr id="35" name="Text 32"/>
          <p:cNvSpPr/>
          <p:nvPr/>
        </p:nvSpPr>
        <p:spPr>
          <a:xfrm>
            <a:off x="475488" y="3419856"/>
            <a:ext cx="329184" cy="475488"/>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a:t>
            </a:r>
            <a:endParaRPr lang="en-US" sz="700" dirty="0"/>
          </a:p>
        </p:txBody>
      </p:sp>
      <p:sp>
        <p:nvSpPr>
          <p:cNvPr id="36" name="Text 33"/>
          <p:cNvSpPr/>
          <p:nvPr/>
        </p:nvSpPr>
        <p:spPr>
          <a:xfrm>
            <a:off x="877824" y="3456432"/>
            <a:ext cx="3127248" cy="201168"/>
          </a:xfrm>
          <a:prstGeom prst="rect">
            <a:avLst/>
          </a:prstGeom>
          <a:noFill/>
          <a:ln/>
        </p:spPr>
        <p:txBody>
          <a:bodyPr wrap="square" lIns="0" tIns="0" rIns="0" bIns="0" rtlCol="0" anchor="ctr"/>
          <a:lstStyle/>
          <a:p>
            <a:pPr marL="0" indent="0">
              <a:buNone/>
            </a:pPr>
            <a:r>
              <a:rPr lang="en-US" sz="1000" b="1" dirty="0">
                <a:solidFill>
                  <a:srgbClr val="FF6B35"/>
                </a:solidFill>
                <a:latin typeface="Consolas" pitchFamily="34" charset="0"/>
                <a:ea typeface="Consolas" pitchFamily="34" charset="-122"/>
                <a:cs typeface="Consolas" pitchFamily="34" charset="-120"/>
              </a:rPr>
              <a:t>Got: Error 0x00000027  (ERROR_NOT_READY)</a:t>
            </a:r>
            <a:endParaRPr lang="en-US" sz="1000" dirty="0"/>
          </a:p>
        </p:txBody>
      </p:sp>
      <p:sp>
        <p:nvSpPr>
          <p:cNvPr id="37" name="Text 34"/>
          <p:cNvSpPr/>
          <p:nvPr/>
        </p:nvSpPr>
        <p:spPr>
          <a:xfrm>
            <a:off x="877824" y="3657600"/>
            <a:ext cx="3127248" cy="201168"/>
          </a:xfrm>
          <a:prstGeom prst="rect">
            <a:avLst/>
          </a:prstGeom>
          <a:noFill/>
          <a:ln/>
        </p:spPr>
        <p:txBody>
          <a:bodyPr wrap="square" lIns="0" tIns="0" rIns="0" bIns="0" rtlCol="0" anchor="ctr"/>
          <a:lstStyle/>
          <a:p>
            <a:pPr marL="0" indent="0">
              <a:buNone/>
            </a:pPr>
            <a:r>
              <a:rPr lang="en-US" sz="900" dirty="0">
                <a:solidFill>
                  <a:srgbClr val="B8D4E8"/>
                </a:solidFill>
                <a:latin typeface="Calibri" pitchFamily="34" charset="0"/>
                <a:ea typeface="Calibri" pitchFamily="34" charset="-122"/>
                <a:cs typeface="Calibri" pitchFamily="34" charset="-120"/>
              </a:rPr>
              <a:t>Undocumented internal ETW integrity check — never seen in any public reference</a:t>
            </a:r>
            <a:endParaRPr lang="en-US" sz="900" dirty="0"/>
          </a:p>
        </p:txBody>
      </p:sp>
      <p:sp>
        <p:nvSpPr>
          <p:cNvPr id="38" name="Shape 35"/>
          <p:cNvSpPr/>
          <p:nvPr/>
        </p:nvSpPr>
        <p:spPr>
          <a:xfrm>
            <a:off x="4389120" y="804672"/>
            <a:ext cx="4407408" cy="4041648"/>
          </a:xfrm>
          <a:prstGeom prst="rect">
            <a:avLst/>
          </a:prstGeom>
          <a:solidFill>
            <a:srgbClr val="0A1628"/>
          </a:solidFill>
          <a:ln w="12700">
            <a:solidFill>
              <a:srgbClr val="2D1B4E"/>
            </a:solidFill>
            <a:prstDash val="solid"/>
          </a:ln>
          <a:effectLst>
            <a:outerShdw blurRad="203200" dist="50800" dir="8100000" algn="bl" rotWithShape="0">
              <a:srgbClr val="000000">
                <a:alpha val="45000"/>
              </a:srgbClr>
            </a:outerShdw>
          </a:effectLst>
        </p:spPr>
        <p:txBody>
          <a:bodyPr/>
          <a:lstStyle/>
          <a:p>
            <a:endParaRPr lang="en-US"/>
          </a:p>
        </p:txBody>
      </p:sp>
      <p:sp>
        <p:nvSpPr>
          <p:cNvPr id="39" name="Shape 36"/>
          <p:cNvSpPr/>
          <p:nvPr/>
        </p:nvSpPr>
        <p:spPr>
          <a:xfrm>
            <a:off x="4389120" y="804672"/>
            <a:ext cx="4407408" cy="36576"/>
          </a:xfrm>
          <a:prstGeom prst="rect">
            <a:avLst/>
          </a:prstGeom>
          <a:solidFill>
            <a:srgbClr val="7B61FF"/>
          </a:solidFill>
          <a:ln w="12700">
            <a:solidFill>
              <a:srgbClr val="7B61FF"/>
            </a:solidFill>
            <a:prstDash val="solid"/>
          </a:ln>
        </p:spPr>
        <p:txBody>
          <a:bodyPr/>
          <a:lstStyle/>
          <a:p>
            <a:endParaRPr lang="en-US"/>
          </a:p>
        </p:txBody>
      </p:sp>
      <p:sp>
        <p:nvSpPr>
          <p:cNvPr id="40" name="Text 37"/>
          <p:cNvSpPr/>
          <p:nvPr/>
        </p:nvSpPr>
        <p:spPr>
          <a:xfrm>
            <a:off x="4526280" y="877824"/>
            <a:ext cx="4114800" cy="274320"/>
          </a:xfrm>
          <a:prstGeom prst="rect">
            <a:avLst/>
          </a:prstGeom>
          <a:noFill/>
          <a:ln/>
        </p:spPr>
        <p:txBody>
          <a:bodyPr wrap="square" lIns="0" tIns="0" rIns="0" bIns="0" rtlCol="0" anchor="ctr"/>
          <a:lstStyle/>
          <a:p>
            <a:pPr marL="0" indent="0">
              <a:buNone/>
            </a:pPr>
            <a:r>
              <a:rPr lang="en-US" sz="1200" b="1" dirty="0">
                <a:solidFill>
                  <a:srgbClr val="A78BFA"/>
                </a:solidFill>
                <a:latin typeface="Trebuchet MS" pitchFamily="34" charset="0"/>
                <a:ea typeface="Trebuchet MS" pitchFamily="34" charset="-122"/>
                <a:cs typeface="Trebuchet MS" pitchFamily="34" charset="-120"/>
              </a:rPr>
              <a:t>Why Windows Could Resist</a:t>
            </a:r>
            <a:endParaRPr lang="en-US" sz="1200" dirty="0"/>
          </a:p>
        </p:txBody>
      </p:sp>
      <p:sp>
        <p:nvSpPr>
          <p:cNvPr id="41" name="Shape 38"/>
          <p:cNvSpPr/>
          <p:nvPr/>
        </p:nvSpPr>
        <p:spPr>
          <a:xfrm>
            <a:off x="4498848" y="1234440"/>
            <a:ext cx="4169664" cy="1097280"/>
          </a:xfrm>
          <a:prstGeom prst="rect">
            <a:avLst/>
          </a:prstGeom>
          <a:solidFill>
            <a:srgbClr val="071830"/>
          </a:solidFill>
          <a:ln w="12700">
            <a:solidFill>
              <a:srgbClr val="00D4FF"/>
            </a:solidFill>
            <a:prstDash val="solid"/>
          </a:ln>
          <a:effectLst>
            <a:outerShdw blurRad="203200" dist="50800" dir="8100000" algn="bl" rotWithShape="0">
              <a:srgbClr val="000000">
                <a:alpha val="45000"/>
              </a:srgbClr>
            </a:outerShdw>
          </a:effectLst>
        </p:spPr>
        <p:txBody>
          <a:bodyPr/>
          <a:lstStyle/>
          <a:p>
            <a:endParaRPr lang="en-US"/>
          </a:p>
        </p:txBody>
      </p:sp>
      <p:sp>
        <p:nvSpPr>
          <p:cNvPr id="42" name="Text 39"/>
          <p:cNvSpPr/>
          <p:nvPr/>
        </p:nvSpPr>
        <p:spPr>
          <a:xfrm>
            <a:off x="4645152" y="1261872"/>
            <a:ext cx="3877056" cy="228600"/>
          </a:xfrm>
          <a:prstGeom prst="rect">
            <a:avLst/>
          </a:prstGeom>
          <a:noFill/>
          <a:ln/>
        </p:spPr>
        <p:txBody>
          <a:bodyPr wrap="square" lIns="0" tIns="0" rIns="0" bIns="0" rtlCol="0" anchor="ctr"/>
          <a:lstStyle/>
          <a:p>
            <a:pPr marL="0" indent="0">
              <a:buNone/>
            </a:pPr>
            <a:r>
              <a:rPr lang="en-US" sz="1000" b="1" dirty="0">
                <a:solidFill>
                  <a:srgbClr val="00D4FF"/>
                </a:solidFill>
                <a:latin typeface="Consolas" pitchFamily="34" charset="0"/>
                <a:ea typeface="Consolas" pitchFamily="34" charset="-122"/>
                <a:cs typeface="Consolas" pitchFamily="34" charset="-120"/>
              </a:rPr>
              <a:t>RING 0  —  KERNEL</a:t>
            </a:r>
            <a:endParaRPr lang="en-US" sz="1000" dirty="0"/>
          </a:p>
        </p:txBody>
      </p:sp>
      <p:sp>
        <p:nvSpPr>
          <p:cNvPr id="43" name="Text 40"/>
          <p:cNvSpPr/>
          <p:nvPr/>
        </p:nvSpPr>
        <p:spPr>
          <a:xfrm>
            <a:off x="4645152" y="1508760"/>
            <a:ext cx="3877056" cy="512064"/>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ETW dispatch table lives here</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Lazarus Group FudModule operates here</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Requires signed driver + Microsoft authorization</a:t>
            </a:r>
            <a:endParaRPr lang="en-US" sz="950" dirty="0"/>
          </a:p>
        </p:txBody>
      </p:sp>
      <p:sp>
        <p:nvSpPr>
          <p:cNvPr id="44" name="Shape 41"/>
          <p:cNvSpPr/>
          <p:nvPr/>
        </p:nvSpPr>
        <p:spPr>
          <a:xfrm>
            <a:off x="4498848" y="2331720"/>
            <a:ext cx="4169664" cy="256032"/>
          </a:xfrm>
          <a:prstGeom prst="rect">
            <a:avLst/>
          </a:prstGeom>
          <a:solidFill>
            <a:srgbClr val="E8365D"/>
          </a:solidFill>
          <a:ln w="12700">
            <a:solidFill>
              <a:srgbClr val="E8365D"/>
            </a:solidFill>
            <a:prstDash val="solid"/>
          </a:ln>
        </p:spPr>
        <p:txBody>
          <a:bodyPr/>
          <a:lstStyle/>
          <a:p>
            <a:endParaRPr lang="en-US"/>
          </a:p>
        </p:txBody>
      </p:sp>
      <p:sp>
        <p:nvSpPr>
          <p:cNvPr id="45" name="Text 42"/>
          <p:cNvSpPr/>
          <p:nvPr/>
        </p:nvSpPr>
        <p:spPr>
          <a:xfrm>
            <a:off x="4498848" y="2331720"/>
            <a:ext cx="4169664"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PROTECTED BOUNDARY  —  Cannot be crossed from Ring 3</a:t>
            </a:r>
            <a:endParaRPr lang="en-US" sz="850" dirty="0"/>
          </a:p>
        </p:txBody>
      </p:sp>
      <p:sp>
        <p:nvSpPr>
          <p:cNvPr id="46" name="Shape 43"/>
          <p:cNvSpPr/>
          <p:nvPr/>
        </p:nvSpPr>
        <p:spPr>
          <a:xfrm>
            <a:off x="4498848" y="2587752"/>
            <a:ext cx="4169664" cy="914400"/>
          </a:xfrm>
          <a:prstGeom prst="rect">
            <a:avLst/>
          </a:prstGeom>
          <a:solidFill>
            <a:srgbClr val="120808"/>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47" name="Text 44"/>
          <p:cNvSpPr/>
          <p:nvPr/>
        </p:nvSpPr>
        <p:spPr>
          <a:xfrm>
            <a:off x="4645152" y="2615184"/>
            <a:ext cx="3877056" cy="228600"/>
          </a:xfrm>
          <a:prstGeom prst="rect">
            <a:avLst/>
          </a:prstGeom>
          <a:noFill/>
          <a:ln/>
        </p:spPr>
        <p:txBody>
          <a:bodyPr wrap="square" lIns="0" tIns="0" rIns="0" bIns="0" rtlCol="0" anchor="ctr"/>
          <a:lstStyle/>
          <a:p>
            <a:pPr marL="0" indent="0">
              <a:buNone/>
            </a:pPr>
            <a:r>
              <a:rPr lang="en-US" sz="1000" b="1" dirty="0">
                <a:solidFill>
                  <a:srgbClr val="FF6B35"/>
                </a:solidFill>
                <a:latin typeface="Consolas" pitchFamily="34" charset="0"/>
                <a:ea typeface="Consolas" pitchFamily="34" charset="-122"/>
                <a:cs typeface="Consolas" pitchFamily="34" charset="-120"/>
              </a:rPr>
              <a:t>RING 3  —  USER MODE</a:t>
            </a:r>
            <a:endParaRPr lang="en-US" sz="1000" dirty="0"/>
          </a:p>
        </p:txBody>
      </p:sp>
      <p:sp>
        <p:nvSpPr>
          <p:cNvPr id="48" name="Text 45"/>
          <p:cNvSpPr/>
          <p:nvPr/>
        </p:nvSpPr>
        <p:spPr>
          <a:xfrm>
            <a:off x="4645152" y="2862072"/>
            <a:ext cx="3877056" cy="475488"/>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Where I operated</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ntdll.dll patch applied here</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Windows detected it and returned 0x27</a:t>
            </a:r>
            <a:endParaRPr lang="en-US" sz="950" dirty="0"/>
          </a:p>
        </p:txBody>
      </p:sp>
      <p:sp>
        <p:nvSpPr>
          <p:cNvPr id="49" name="Shape 46"/>
          <p:cNvSpPr/>
          <p:nvPr/>
        </p:nvSpPr>
        <p:spPr>
          <a:xfrm>
            <a:off x="4498848" y="3584448"/>
            <a:ext cx="4169664" cy="1133856"/>
          </a:xfrm>
          <a:prstGeom prst="rect">
            <a:avLst/>
          </a:prstGeom>
          <a:solidFill>
            <a:srgbClr val="050E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50" name="Shape 47"/>
          <p:cNvSpPr/>
          <p:nvPr/>
        </p:nvSpPr>
        <p:spPr>
          <a:xfrm>
            <a:off x="4498848" y="3584448"/>
            <a:ext cx="36576" cy="1133856"/>
          </a:xfrm>
          <a:prstGeom prst="rect">
            <a:avLst/>
          </a:prstGeom>
          <a:solidFill>
            <a:srgbClr val="00C896"/>
          </a:solidFill>
          <a:ln w="12700">
            <a:solidFill>
              <a:srgbClr val="00C896"/>
            </a:solidFill>
            <a:prstDash val="solid"/>
          </a:ln>
        </p:spPr>
        <p:txBody>
          <a:bodyPr/>
          <a:lstStyle/>
          <a:p>
            <a:endParaRPr lang="en-US"/>
          </a:p>
        </p:txBody>
      </p:sp>
      <p:sp>
        <p:nvSpPr>
          <p:cNvPr id="51" name="Text 48"/>
          <p:cNvSpPr/>
          <p:nvPr/>
        </p:nvSpPr>
        <p:spPr>
          <a:xfrm>
            <a:off x="4626864" y="3639312"/>
            <a:ext cx="3840480" cy="219456"/>
          </a:xfrm>
          <a:prstGeom prst="rect">
            <a:avLst/>
          </a:prstGeom>
          <a:noFill/>
          <a:ln/>
        </p:spPr>
        <p:txBody>
          <a:bodyPr wrap="square" lIns="0" tIns="0" rIns="0" bIns="0" rtlCol="0" anchor="ctr"/>
          <a:lstStyle/>
          <a:p>
            <a:pPr marL="0" indent="0">
              <a:buNone/>
            </a:pPr>
            <a:r>
              <a:rPr lang="en-US" sz="1100" b="1" dirty="0">
                <a:solidFill>
                  <a:srgbClr val="00C896"/>
                </a:solidFill>
                <a:latin typeface="Trebuchet MS" pitchFamily="34" charset="0"/>
                <a:ea typeface="Trebuchet MS" pitchFamily="34" charset="-122"/>
                <a:cs typeface="Trebuchet MS" pitchFamily="34" charset="-120"/>
              </a:rPr>
              <a:t>First surprise:</a:t>
            </a:r>
            <a:endParaRPr lang="en-US" sz="1100" dirty="0"/>
          </a:p>
        </p:txBody>
      </p:sp>
      <p:sp>
        <p:nvSpPr>
          <p:cNvPr id="52" name="Text 49"/>
          <p:cNvSpPr/>
          <p:nvPr/>
        </p:nvSpPr>
        <p:spPr>
          <a:xfrm>
            <a:off x="4626864" y="3877056"/>
            <a:ext cx="3840480" cy="768096"/>
          </a:xfrm>
          <a:prstGeom prst="rect">
            <a:avLst/>
          </a:prstGeom>
          <a:noFill/>
          <a:ln/>
        </p:spPr>
        <p:txBody>
          <a:bodyPr wrap="square" lIns="0" tIns="0" rIns="0" bIns="0" rtlCol="0" anchor="ctr"/>
          <a:lstStyle/>
          <a:p>
            <a:pPr marL="0" indent="0">
              <a:buNone/>
            </a:pPr>
            <a:r>
              <a:rPr lang="en-US" sz="1000" dirty="0">
                <a:solidFill>
                  <a:srgbClr val="B8D4E8"/>
                </a:solidFill>
                <a:latin typeface="Calibri" pitchFamily="34" charset="0"/>
                <a:ea typeface="Calibri" pitchFamily="34" charset="-122"/>
                <a:cs typeface="Calibri" pitchFamily="34" charset="-120"/>
              </a:rPr>
              <a:t>Windows 11 is actively defending its telemetry pipeline in ways that are not publicly documented. The 0x27 response appeared on every tampered run — consistently, reproducibly.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E8365D"/>
          </a:solidFill>
          <a:ln w="12700">
            <a:solidFill>
              <a:srgbClr val="E8365D"/>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Observation #2 - The BSOD</a:t>
            </a:r>
            <a:endParaRPr lang="en-US" sz="2100" dirty="0"/>
          </a:p>
        </p:txBody>
      </p:sp>
      <p:sp>
        <p:nvSpPr>
          <p:cNvPr id="8" name="Shape 5"/>
          <p:cNvSpPr/>
          <p:nvPr/>
        </p:nvSpPr>
        <p:spPr>
          <a:xfrm>
            <a:off x="365760" y="804672"/>
            <a:ext cx="2761488" cy="1664208"/>
          </a:xfrm>
          <a:prstGeom prst="rect">
            <a:avLst/>
          </a:prstGeom>
          <a:solidFill>
            <a:srgbClr val="0A1628"/>
          </a:solidFill>
          <a:ln w="12700">
            <a:solidFill>
              <a:srgbClr val="1E3A5F"/>
            </a:solidFill>
            <a:prstDash val="solid"/>
          </a:ln>
          <a:effectLst>
            <a:outerShdw blurRad="203200" dist="50800" dir="8100000" algn="bl" rotWithShape="0">
              <a:srgbClr val="000000">
                <a:alpha val="45000"/>
              </a:srgbClr>
            </a:outerShdw>
          </a:effectLst>
        </p:spPr>
        <p:txBody>
          <a:bodyPr/>
          <a:lstStyle/>
          <a:p>
            <a:endParaRPr lang="en-US"/>
          </a:p>
        </p:txBody>
      </p:sp>
      <p:sp>
        <p:nvSpPr>
          <p:cNvPr id="9" name="Shape 6"/>
          <p:cNvSpPr/>
          <p:nvPr/>
        </p:nvSpPr>
        <p:spPr>
          <a:xfrm>
            <a:off x="365760" y="804672"/>
            <a:ext cx="2761488" cy="36576"/>
          </a:xfrm>
          <a:prstGeom prst="rect">
            <a:avLst/>
          </a:prstGeom>
          <a:solidFill>
            <a:srgbClr val="4FC3F7"/>
          </a:solidFill>
          <a:ln w="12700">
            <a:solidFill>
              <a:srgbClr val="4FC3F7"/>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493776" y="896112"/>
            <a:ext cx="274320" cy="274320"/>
          </a:xfrm>
          <a:prstGeom prst="rect">
            <a:avLst/>
          </a:prstGeom>
        </p:spPr>
      </p:pic>
      <p:sp>
        <p:nvSpPr>
          <p:cNvPr id="11" name="Text 7"/>
          <p:cNvSpPr/>
          <p:nvPr/>
        </p:nvSpPr>
        <p:spPr>
          <a:xfrm>
            <a:off x="822960" y="896112"/>
            <a:ext cx="2176272" cy="219456"/>
          </a:xfrm>
          <a:prstGeom prst="rect">
            <a:avLst/>
          </a:prstGeom>
          <a:noFill/>
          <a:ln/>
        </p:spPr>
        <p:txBody>
          <a:bodyPr wrap="square" lIns="0" tIns="0" rIns="0" bIns="0" rtlCol="0" anchor="ctr"/>
          <a:lstStyle/>
          <a:p>
            <a:pPr marL="0" indent="0">
              <a:buNone/>
            </a:pPr>
            <a:r>
              <a:rPr lang="en-US" sz="1150" b="1" dirty="0">
                <a:solidFill>
                  <a:srgbClr val="4FC3F7"/>
                </a:solidFill>
                <a:latin typeface="Trebuchet MS" pitchFamily="34" charset="0"/>
                <a:ea typeface="Trebuchet MS" pitchFamily="34" charset="-122"/>
                <a:cs typeface="Trebuchet MS" pitchFamily="34" charset="-120"/>
              </a:rPr>
              <a:t>Windows 11 PC</a:t>
            </a:r>
            <a:endParaRPr lang="en-US" sz="1150" dirty="0"/>
          </a:p>
        </p:txBody>
      </p:sp>
      <p:sp>
        <p:nvSpPr>
          <p:cNvPr id="12" name="Text 8"/>
          <p:cNvSpPr/>
          <p:nvPr/>
        </p:nvSpPr>
        <p:spPr>
          <a:xfrm>
            <a:off x="822960" y="1124712"/>
            <a:ext cx="2176272" cy="164592"/>
          </a:xfrm>
          <a:prstGeom prst="rect">
            <a:avLst/>
          </a:prstGeom>
          <a:noFill/>
          <a:ln/>
        </p:spPr>
        <p:txBody>
          <a:bodyPr wrap="square" lIns="0" tIns="0" rIns="0" bIns="0" rtlCol="0" anchor="ctr"/>
          <a:lstStyle/>
          <a:p>
            <a:pPr marL="0" indent="0">
              <a:buNone/>
            </a:pPr>
            <a:r>
              <a:rPr lang="en-US" sz="850" dirty="0">
                <a:solidFill>
                  <a:srgbClr val="4A6882"/>
                </a:solidFill>
                <a:latin typeface="Calibri" pitchFamily="34" charset="0"/>
                <a:ea typeface="Calibri" pitchFamily="34" charset="-122"/>
                <a:cs typeface="Calibri" pitchFamily="34" charset="-120"/>
              </a:rPr>
              <a:t>Host  ·  Dev machine</a:t>
            </a:r>
            <a:endParaRPr lang="en-US" sz="850" dirty="0"/>
          </a:p>
        </p:txBody>
      </p:sp>
      <p:sp>
        <p:nvSpPr>
          <p:cNvPr id="13" name="Shape 9"/>
          <p:cNvSpPr/>
          <p:nvPr/>
        </p:nvSpPr>
        <p:spPr>
          <a:xfrm>
            <a:off x="530352" y="1481328"/>
            <a:ext cx="109728" cy="0"/>
          </a:xfrm>
          <a:prstGeom prst="line">
            <a:avLst/>
          </a:prstGeom>
          <a:noFill/>
          <a:ln w="19050">
            <a:solidFill>
              <a:srgbClr val="4FC3F7"/>
            </a:solidFill>
            <a:prstDash val="solid"/>
          </a:ln>
        </p:spPr>
        <p:txBody>
          <a:bodyPr/>
          <a:lstStyle/>
          <a:p>
            <a:endParaRPr lang="en-US"/>
          </a:p>
        </p:txBody>
      </p:sp>
      <p:sp>
        <p:nvSpPr>
          <p:cNvPr id="14" name="Text 10"/>
          <p:cNvSpPr/>
          <p:nvPr/>
        </p:nvSpPr>
        <p:spPr>
          <a:xfrm>
            <a:off x="694944" y="139903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VS2022 + EWDK</a:t>
            </a:r>
            <a:endParaRPr lang="en-US" sz="950" dirty="0"/>
          </a:p>
        </p:txBody>
      </p:sp>
      <p:sp>
        <p:nvSpPr>
          <p:cNvPr id="15" name="Shape 11"/>
          <p:cNvSpPr/>
          <p:nvPr/>
        </p:nvSpPr>
        <p:spPr>
          <a:xfrm>
            <a:off x="530352" y="1801368"/>
            <a:ext cx="109728" cy="0"/>
          </a:xfrm>
          <a:prstGeom prst="line">
            <a:avLst/>
          </a:prstGeom>
          <a:noFill/>
          <a:ln w="19050">
            <a:solidFill>
              <a:srgbClr val="4FC3F7"/>
            </a:solidFill>
            <a:prstDash val="solid"/>
          </a:ln>
        </p:spPr>
        <p:txBody>
          <a:bodyPr/>
          <a:lstStyle/>
          <a:p>
            <a:endParaRPr lang="en-US"/>
          </a:p>
        </p:txBody>
      </p:sp>
      <p:sp>
        <p:nvSpPr>
          <p:cNvPr id="16" name="Text 12"/>
          <p:cNvSpPr/>
          <p:nvPr/>
        </p:nvSpPr>
        <p:spPr>
          <a:xfrm>
            <a:off x="694944" y="171907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WinDbg (sends debug to VM)</a:t>
            </a:r>
            <a:endParaRPr lang="en-US" sz="950" dirty="0"/>
          </a:p>
        </p:txBody>
      </p:sp>
      <p:sp>
        <p:nvSpPr>
          <p:cNvPr id="17" name="Shape 13"/>
          <p:cNvSpPr/>
          <p:nvPr/>
        </p:nvSpPr>
        <p:spPr>
          <a:xfrm>
            <a:off x="530352" y="2121408"/>
            <a:ext cx="109728" cy="0"/>
          </a:xfrm>
          <a:prstGeom prst="line">
            <a:avLst/>
          </a:prstGeom>
          <a:noFill/>
          <a:ln w="19050">
            <a:solidFill>
              <a:srgbClr val="4FC3F7"/>
            </a:solidFill>
            <a:prstDash val="solid"/>
          </a:ln>
        </p:spPr>
        <p:txBody>
          <a:bodyPr/>
          <a:lstStyle/>
          <a:p>
            <a:endParaRPr lang="en-US"/>
          </a:p>
        </p:txBody>
      </p:sp>
      <p:sp>
        <p:nvSpPr>
          <p:cNvPr id="18" name="Text 14"/>
          <p:cNvSpPr/>
          <p:nvPr/>
        </p:nvSpPr>
        <p:spPr>
          <a:xfrm>
            <a:off x="694944" y="203911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Python scripts run here</a:t>
            </a:r>
            <a:endParaRPr lang="en-US" sz="950" dirty="0"/>
          </a:p>
        </p:txBody>
      </p:sp>
      <p:sp>
        <p:nvSpPr>
          <p:cNvPr id="19" name="Shape 15"/>
          <p:cNvSpPr/>
          <p:nvPr/>
        </p:nvSpPr>
        <p:spPr>
          <a:xfrm>
            <a:off x="3291840" y="804672"/>
            <a:ext cx="2761488" cy="1664208"/>
          </a:xfrm>
          <a:prstGeom prst="rect">
            <a:avLst/>
          </a:prstGeom>
          <a:solidFill>
            <a:srgbClr val="160808"/>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20" name="Shape 16"/>
          <p:cNvSpPr/>
          <p:nvPr/>
        </p:nvSpPr>
        <p:spPr>
          <a:xfrm>
            <a:off x="3291840" y="804672"/>
            <a:ext cx="2761488" cy="36576"/>
          </a:xfrm>
          <a:prstGeom prst="rect">
            <a:avLst/>
          </a:prstGeom>
          <a:solidFill>
            <a:srgbClr val="FF6B35"/>
          </a:solidFill>
          <a:ln w="12700">
            <a:solidFill>
              <a:srgbClr val="FF6B35"/>
            </a:solidFill>
            <a:prstDash val="solid"/>
          </a:ln>
        </p:spPr>
        <p:txBody>
          <a:bodyPr/>
          <a:lstStyle/>
          <a:p>
            <a:endParaRPr lang="en-US"/>
          </a:p>
        </p:txBody>
      </p:sp>
      <p:pic>
        <p:nvPicPr>
          <p:cNvPr id="21" name="Image 1" descr="preencoded.png"/>
          <p:cNvPicPr>
            <a:picLocks noChangeAspect="1"/>
          </p:cNvPicPr>
          <p:nvPr/>
        </p:nvPicPr>
        <p:blipFill>
          <a:blip r:embed="rId3"/>
          <a:stretch>
            <a:fillRect/>
          </a:stretch>
        </p:blipFill>
        <p:spPr>
          <a:xfrm>
            <a:off x="3419856" y="896112"/>
            <a:ext cx="274320" cy="274320"/>
          </a:xfrm>
          <a:prstGeom prst="rect">
            <a:avLst/>
          </a:prstGeom>
        </p:spPr>
      </p:pic>
      <p:sp>
        <p:nvSpPr>
          <p:cNvPr id="22" name="Text 17"/>
          <p:cNvSpPr/>
          <p:nvPr/>
        </p:nvSpPr>
        <p:spPr>
          <a:xfrm>
            <a:off x="3749040" y="896112"/>
            <a:ext cx="2176272" cy="219456"/>
          </a:xfrm>
          <a:prstGeom prst="rect">
            <a:avLst/>
          </a:prstGeom>
          <a:noFill/>
          <a:ln/>
        </p:spPr>
        <p:txBody>
          <a:bodyPr wrap="square" lIns="0" tIns="0" rIns="0" bIns="0" rtlCol="0" anchor="ctr"/>
          <a:lstStyle/>
          <a:p>
            <a:pPr marL="0" indent="0">
              <a:buNone/>
            </a:pPr>
            <a:r>
              <a:rPr lang="en-US" sz="1150" b="1" dirty="0">
                <a:solidFill>
                  <a:srgbClr val="FF6B35"/>
                </a:solidFill>
                <a:latin typeface="Trebuchet MS" pitchFamily="34" charset="0"/>
                <a:ea typeface="Trebuchet MS" pitchFamily="34" charset="-122"/>
                <a:cs typeface="Trebuchet MS" pitchFamily="34" charset="-120"/>
              </a:rPr>
              <a:t>Windows 11 VM</a:t>
            </a:r>
            <a:endParaRPr lang="en-US" sz="1150" dirty="0"/>
          </a:p>
        </p:txBody>
      </p:sp>
      <p:sp>
        <p:nvSpPr>
          <p:cNvPr id="23" name="Text 18"/>
          <p:cNvSpPr/>
          <p:nvPr/>
        </p:nvSpPr>
        <p:spPr>
          <a:xfrm>
            <a:off x="3749040" y="1124712"/>
            <a:ext cx="2176272" cy="164592"/>
          </a:xfrm>
          <a:prstGeom prst="rect">
            <a:avLst/>
          </a:prstGeom>
          <a:noFill/>
          <a:ln/>
        </p:spPr>
        <p:txBody>
          <a:bodyPr wrap="square" lIns="0" tIns="0" rIns="0" bIns="0" rtlCol="0" anchor="ctr"/>
          <a:lstStyle/>
          <a:p>
            <a:pPr marL="0" indent="0">
              <a:buNone/>
            </a:pPr>
            <a:r>
              <a:rPr lang="en-US" sz="850" dirty="0">
                <a:solidFill>
                  <a:srgbClr val="4A6882"/>
                </a:solidFill>
                <a:latin typeface="Calibri" pitchFamily="34" charset="0"/>
                <a:ea typeface="Calibri" pitchFamily="34" charset="-122"/>
                <a:cs typeface="Calibri" pitchFamily="34" charset="-120"/>
              </a:rPr>
              <a:t>TARGET  ·  Most painful</a:t>
            </a:r>
            <a:endParaRPr lang="en-US" sz="850" dirty="0"/>
          </a:p>
        </p:txBody>
      </p:sp>
      <p:sp>
        <p:nvSpPr>
          <p:cNvPr id="24" name="Shape 19"/>
          <p:cNvSpPr/>
          <p:nvPr/>
        </p:nvSpPr>
        <p:spPr>
          <a:xfrm>
            <a:off x="4937760" y="914400"/>
            <a:ext cx="1005840" cy="182880"/>
          </a:xfrm>
          <a:prstGeom prst="rect">
            <a:avLst/>
          </a:prstGeom>
          <a:solidFill>
            <a:srgbClr val="FF6B35"/>
          </a:solidFill>
          <a:ln w="12700">
            <a:solidFill>
              <a:srgbClr val="FF6B35"/>
            </a:solidFill>
            <a:prstDash val="solid"/>
          </a:ln>
        </p:spPr>
        <p:txBody>
          <a:bodyPr/>
          <a:lstStyle/>
          <a:p>
            <a:endParaRPr lang="en-US"/>
          </a:p>
        </p:txBody>
      </p:sp>
      <p:sp>
        <p:nvSpPr>
          <p:cNvPr id="25" name="Text 20"/>
          <p:cNvSpPr/>
          <p:nvPr/>
        </p:nvSpPr>
        <p:spPr>
          <a:xfrm>
            <a:off x="4937760" y="914400"/>
            <a:ext cx="1005840" cy="182880"/>
          </a:xfrm>
          <a:prstGeom prst="rect">
            <a:avLst/>
          </a:prstGeom>
          <a:noFill/>
          <a:ln/>
        </p:spPr>
        <p:txBody>
          <a:bodyPr wrap="square" lIns="0" tIns="0" rIns="0" bIns="0" rtlCol="0" anchor="ctr"/>
          <a:lstStyle/>
          <a:p>
            <a:pPr marL="0" indent="0" algn="ctr">
              <a:buNone/>
            </a:pPr>
            <a:r>
              <a:rPr lang="en-US" sz="700" b="1" dirty="0">
                <a:solidFill>
                  <a:srgbClr val="04091A"/>
                </a:solidFill>
                <a:latin typeface="Consolas" pitchFamily="34" charset="0"/>
                <a:ea typeface="Consolas" pitchFamily="34" charset="-122"/>
                <a:cs typeface="Consolas" pitchFamily="34" charset="-120"/>
              </a:rPr>
              <a:t>MOST DIFFICULT</a:t>
            </a:r>
            <a:endParaRPr lang="en-US" sz="700" dirty="0"/>
          </a:p>
        </p:txBody>
      </p:sp>
      <p:sp>
        <p:nvSpPr>
          <p:cNvPr id="26" name="Shape 21"/>
          <p:cNvSpPr/>
          <p:nvPr/>
        </p:nvSpPr>
        <p:spPr>
          <a:xfrm>
            <a:off x="3456432" y="1481328"/>
            <a:ext cx="109728" cy="0"/>
          </a:xfrm>
          <a:prstGeom prst="line">
            <a:avLst/>
          </a:prstGeom>
          <a:noFill/>
          <a:ln w="19050">
            <a:solidFill>
              <a:srgbClr val="FF6B35"/>
            </a:solidFill>
            <a:prstDash val="solid"/>
          </a:ln>
        </p:spPr>
        <p:txBody>
          <a:bodyPr/>
          <a:lstStyle/>
          <a:p>
            <a:endParaRPr lang="en-US"/>
          </a:p>
        </p:txBody>
      </p:sp>
      <p:sp>
        <p:nvSpPr>
          <p:cNvPr id="27" name="Text 22"/>
          <p:cNvSpPr/>
          <p:nvPr/>
        </p:nvSpPr>
        <p:spPr>
          <a:xfrm>
            <a:off x="3621024" y="139903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Driver loaded here</a:t>
            </a:r>
            <a:endParaRPr lang="en-US" sz="950" dirty="0"/>
          </a:p>
        </p:txBody>
      </p:sp>
      <p:sp>
        <p:nvSpPr>
          <p:cNvPr id="28" name="Shape 23"/>
          <p:cNvSpPr/>
          <p:nvPr/>
        </p:nvSpPr>
        <p:spPr>
          <a:xfrm>
            <a:off x="3456432" y="1801368"/>
            <a:ext cx="109728" cy="0"/>
          </a:xfrm>
          <a:prstGeom prst="line">
            <a:avLst/>
          </a:prstGeom>
          <a:noFill/>
          <a:ln w="19050">
            <a:solidFill>
              <a:srgbClr val="FF6B35"/>
            </a:solidFill>
            <a:prstDash val="solid"/>
          </a:ln>
        </p:spPr>
        <p:txBody>
          <a:bodyPr/>
          <a:lstStyle/>
          <a:p>
            <a:endParaRPr lang="en-US"/>
          </a:p>
        </p:txBody>
      </p:sp>
      <p:sp>
        <p:nvSpPr>
          <p:cNvPr id="29" name="Text 24"/>
          <p:cNvSpPr/>
          <p:nvPr/>
        </p:nvSpPr>
        <p:spPr>
          <a:xfrm>
            <a:off x="3621024" y="171907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ETW patched here</a:t>
            </a:r>
            <a:endParaRPr lang="en-US" sz="950" dirty="0"/>
          </a:p>
        </p:txBody>
      </p:sp>
      <p:sp>
        <p:nvSpPr>
          <p:cNvPr id="30" name="Shape 25"/>
          <p:cNvSpPr/>
          <p:nvPr/>
        </p:nvSpPr>
        <p:spPr>
          <a:xfrm>
            <a:off x="3456432" y="2121408"/>
            <a:ext cx="109728" cy="0"/>
          </a:xfrm>
          <a:prstGeom prst="line">
            <a:avLst/>
          </a:prstGeom>
          <a:noFill/>
          <a:ln w="19050">
            <a:solidFill>
              <a:srgbClr val="FF6B35"/>
            </a:solidFill>
            <a:prstDash val="solid"/>
          </a:ln>
        </p:spPr>
        <p:txBody>
          <a:bodyPr/>
          <a:lstStyle/>
          <a:p>
            <a:endParaRPr lang="en-US"/>
          </a:p>
        </p:txBody>
      </p:sp>
      <p:sp>
        <p:nvSpPr>
          <p:cNvPr id="31" name="Text 26"/>
          <p:cNvSpPr/>
          <p:nvPr/>
        </p:nvSpPr>
        <p:spPr>
          <a:xfrm>
            <a:off x="3621024" y="203911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BSODs happened here</a:t>
            </a:r>
            <a:endParaRPr lang="en-US" sz="950" dirty="0"/>
          </a:p>
        </p:txBody>
      </p:sp>
      <p:sp>
        <p:nvSpPr>
          <p:cNvPr id="32" name="Shape 27"/>
          <p:cNvSpPr/>
          <p:nvPr/>
        </p:nvSpPr>
        <p:spPr>
          <a:xfrm>
            <a:off x="6217920" y="804672"/>
            <a:ext cx="2761488" cy="1664208"/>
          </a:xfrm>
          <a:prstGeom prst="rect">
            <a:avLst/>
          </a:prstGeom>
          <a:solidFill>
            <a:srgbClr val="0A1628"/>
          </a:solidFill>
          <a:ln w="12700">
            <a:solidFill>
              <a:srgbClr val="2D1B4E"/>
            </a:solidFill>
            <a:prstDash val="solid"/>
          </a:ln>
          <a:effectLst>
            <a:outerShdw blurRad="203200" dist="50800" dir="8100000" algn="bl" rotWithShape="0">
              <a:srgbClr val="000000">
                <a:alpha val="45000"/>
              </a:srgbClr>
            </a:outerShdw>
          </a:effectLst>
        </p:spPr>
        <p:txBody>
          <a:bodyPr/>
          <a:lstStyle/>
          <a:p>
            <a:endParaRPr lang="en-US"/>
          </a:p>
        </p:txBody>
      </p:sp>
      <p:sp>
        <p:nvSpPr>
          <p:cNvPr id="33" name="Shape 28"/>
          <p:cNvSpPr/>
          <p:nvPr/>
        </p:nvSpPr>
        <p:spPr>
          <a:xfrm>
            <a:off x="6217920" y="804672"/>
            <a:ext cx="2761488" cy="36576"/>
          </a:xfrm>
          <a:prstGeom prst="rect">
            <a:avLst/>
          </a:prstGeom>
          <a:solidFill>
            <a:srgbClr val="A78BFA"/>
          </a:solidFill>
          <a:ln w="12700">
            <a:solidFill>
              <a:srgbClr val="A78BFA"/>
            </a:solidFill>
            <a:prstDash val="solid"/>
          </a:ln>
        </p:spPr>
        <p:txBody>
          <a:bodyPr/>
          <a:lstStyle/>
          <a:p>
            <a:endParaRPr lang="en-US"/>
          </a:p>
        </p:txBody>
      </p:sp>
      <p:pic>
        <p:nvPicPr>
          <p:cNvPr id="34" name="Image 2" descr="preencoded.png"/>
          <p:cNvPicPr>
            <a:picLocks noChangeAspect="1"/>
          </p:cNvPicPr>
          <p:nvPr/>
        </p:nvPicPr>
        <p:blipFill>
          <a:blip r:embed="rId4"/>
          <a:stretch>
            <a:fillRect/>
          </a:stretch>
        </p:blipFill>
        <p:spPr>
          <a:xfrm>
            <a:off x="6345936" y="896112"/>
            <a:ext cx="274320" cy="274320"/>
          </a:xfrm>
          <a:prstGeom prst="rect">
            <a:avLst/>
          </a:prstGeom>
        </p:spPr>
      </p:pic>
      <p:sp>
        <p:nvSpPr>
          <p:cNvPr id="35" name="Text 29"/>
          <p:cNvSpPr/>
          <p:nvPr/>
        </p:nvSpPr>
        <p:spPr>
          <a:xfrm>
            <a:off x="6675120" y="896112"/>
            <a:ext cx="2176272" cy="219456"/>
          </a:xfrm>
          <a:prstGeom prst="rect">
            <a:avLst/>
          </a:prstGeom>
          <a:noFill/>
          <a:ln/>
        </p:spPr>
        <p:txBody>
          <a:bodyPr wrap="square" lIns="0" tIns="0" rIns="0" bIns="0" rtlCol="0" anchor="ctr"/>
          <a:lstStyle/>
          <a:p>
            <a:pPr marL="0" indent="0">
              <a:buNone/>
            </a:pPr>
            <a:r>
              <a:rPr lang="en-US" sz="1150" b="1" dirty="0">
                <a:solidFill>
                  <a:srgbClr val="A78BFA"/>
                </a:solidFill>
                <a:latin typeface="Trebuchet MS" pitchFamily="34" charset="0"/>
                <a:ea typeface="Trebuchet MS" pitchFamily="34" charset="-122"/>
                <a:cs typeface="Trebuchet MS" pitchFamily="34" charset="-120"/>
              </a:rPr>
              <a:t>Ubuntu 24.04 VM</a:t>
            </a:r>
            <a:endParaRPr lang="en-US" sz="1150" dirty="0"/>
          </a:p>
        </p:txBody>
      </p:sp>
      <p:sp>
        <p:nvSpPr>
          <p:cNvPr id="36" name="Text 30"/>
          <p:cNvSpPr/>
          <p:nvPr/>
        </p:nvSpPr>
        <p:spPr>
          <a:xfrm>
            <a:off x="6675120" y="1124712"/>
            <a:ext cx="2176272" cy="164592"/>
          </a:xfrm>
          <a:prstGeom prst="rect">
            <a:avLst/>
          </a:prstGeom>
          <a:noFill/>
          <a:ln/>
        </p:spPr>
        <p:txBody>
          <a:bodyPr wrap="square" lIns="0" tIns="0" rIns="0" bIns="0" rtlCol="0" anchor="ctr"/>
          <a:lstStyle/>
          <a:p>
            <a:pPr marL="0" indent="0">
              <a:buNone/>
            </a:pPr>
            <a:r>
              <a:rPr lang="en-US" sz="850" dirty="0">
                <a:solidFill>
                  <a:srgbClr val="4A6882"/>
                </a:solidFill>
                <a:latin typeface="Calibri" pitchFamily="34" charset="0"/>
                <a:ea typeface="Calibri" pitchFamily="34" charset="-122"/>
                <a:cs typeface="Calibri" pitchFamily="34" charset="-120"/>
              </a:rPr>
              <a:t>Linux side  ·  VirtualBox</a:t>
            </a:r>
            <a:endParaRPr lang="en-US" sz="850" dirty="0"/>
          </a:p>
        </p:txBody>
      </p:sp>
      <p:sp>
        <p:nvSpPr>
          <p:cNvPr id="37" name="Shape 31"/>
          <p:cNvSpPr/>
          <p:nvPr/>
        </p:nvSpPr>
        <p:spPr>
          <a:xfrm>
            <a:off x="6382512" y="1481328"/>
            <a:ext cx="109728" cy="0"/>
          </a:xfrm>
          <a:prstGeom prst="line">
            <a:avLst/>
          </a:prstGeom>
          <a:noFill/>
          <a:ln w="19050">
            <a:solidFill>
              <a:srgbClr val="A78BFA"/>
            </a:solidFill>
            <a:prstDash val="solid"/>
          </a:ln>
        </p:spPr>
        <p:txBody>
          <a:bodyPr/>
          <a:lstStyle/>
          <a:p>
            <a:endParaRPr lang="en-US"/>
          </a:p>
        </p:txBody>
      </p:sp>
      <p:sp>
        <p:nvSpPr>
          <p:cNvPr id="38" name="Text 32"/>
          <p:cNvSpPr/>
          <p:nvPr/>
        </p:nvSpPr>
        <p:spPr>
          <a:xfrm>
            <a:off x="6547104" y="139903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auditd monitor</a:t>
            </a:r>
            <a:endParaRPr lang="en-US" sz="950" dirty="0"/>
          </a:p>
        </p:txBody>
      </p:sp>
      <p:sp>
        <p:nvSpPr>
          <p:cNvPr id="39" name="Shape 33"/>
          <p:cNvSpPr/>
          <p:nvPr/>
        </p:nvSpPr>
        <p:spPr>
          <a:xfrm>
            <a:off x="6382512" y="1801368"/>
            <a:ext cx="109728" cy="0"/>
          </a:xfrm>
          <a:prstGeom prst="line">
            <a:avLst/>
          </a:prstGeom>
          <a:noFill/>
          <a:ln w="19050">
            <a:solidFill>
              <a:srgbClr val="A78BFA"/>
            </a:solidFill>
            <a:prstDash val="solid"/>
          </a:ln>
        </p:spPr>
        <p:txBody>
          <a:bodyPr/>
          <a:lstStyle/>
          <a:p>
            <a:endParaRPr lang="en-US"/>
          </a:p>
        </p:txBody>
      </p:sp>
      <p:sp>
        <p:nvSpPr>
          <p:cNvPr id="40" name="Text 34"/>
          <p:cNvSpPr/>
          <p:nvPr/>
        </p:nvSpPr>
        <p:spPr>
          <a:xfrm>
            <a:off x="6547104" y="171907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phantom_guard.bt (eBPF)</a:t>
            </a:r>
            <a:endParaRPr lang="en-US" sz="950" dirty="0"/>
          </a:p>
        </p:txBody>
      </p:sp>
      <p:sp>
        <p:nvSpPr>
          <p:cNvPr id="41" name="Shape 35"/>
          <p:cNvSpPr/>
          <p:nvPr/>
        </p:nvSpPr>
        <p:spPr>
          <a:xfrm>
            <a:off x="6382512" y="2121408"/>
            <a:ext cx="109728" cy="0"/>
          </a:xfrm>
          <a:prstGeom prst="line">
            <a:avLst/>
          </a:prstGeom>
          <a:noFill/>
          <a:ln w="19050">
            <a:solidFill>
              <a:srgbClr val="A78BFA"/>
            </a:solidFill>
            <a:prstDash val="solid"/>
          </a:ln>
        </p:spPr>
        <p:txBody>
          <a:bodyPr/>
          <a:lstStyle/>
          <a:p>
            <a:endParaRPr lang="en-US"/>
          </a:p>
        </p:txBody>
      </p:sp>
      <p:sp>
        <p:nvSpPr>
          <p:cNvPr id="42" name="Text 36"/>
          <p:cNvSpPr/>
          <p:nvPr/>
        </p:nvSpPr>
        <p:spPr>
          <a:xfrm>
            <a:off x="6547104" y="2039112"/>
            <a:ext cx="233172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Linux extension</a:t>
            </a:r>
            <a:endParaRPr lang="en-US" sz="950" dirty="0"/>
          </a:p>
        </p:txBody>
      </p:sp>
      <p:sp>
        <p:nvSpPr>
          <p:cNvPr id="43" name="Shape 37"/>
          <p:cNvSpPr/>
          <p:nvPr/>
        </p:nvSpPr>
        <p:spPr>
          <a:xfrm>
            <a:off x="365760" y="2578608"/>
            <a:ext cx="4224528" cy="2286000"/>
          </a:xfrm>
          <a:prstGeom prst="rect">
            <a:avLst/>
          </a:prstGeom>
          <a:solidFill>
            <a:srgbClr val="120508"/>
          </a:solidFill>
          <a:ln w="12700">
            <a:solidFill>
              <a:srgbClr val="E8365D"/>
            </a:solidFill>
            <a:prstDash val="solid"/>
          </a:ln>
          <a:effectLst>
            <a:outerShdw blurRad="203200" dist="50800" dir="8100000" algn="bl" rotWithShape="0">
              <a:srgbClr val="000000">
                <a:alpha val="45000"/>
              </a:srgbClr>
            </a:outerShdw>
          </a:effectLst>
        </p:spPr>
        <p:txBody>
          <a:bodyPr/>
          <a:lstStyle/>
          <a:p>
            <a:endParaRPr lang="en-US"/>
          </a:p>
        </p:txBody>
      </p:sp>
      <p:sp>
        <p:nvSpPr>
          <p:cNvPr id="44" name="Shape 38"/>
          <p:cNvSpPr/>
          <p:nvPr/>
        </p:nvSpPr>
        <p:spPr>
          <a:xfrm>
            <a:off x="365760" y="2578608"/>
            <a:ext cx="4224528" cy="36576"/>
          </a:xfrm>
          <a:prstGeom prst="rect">
            <a:avLst/>
          </a:prstGeom>
          <a:solidFill>
            <a:srgbClr val="E8365D"/>
          </a:solidFill>
          <a:ln w="12700">
            <a:solidFill>
              <a:srgbClr val="E8365D"/>
            </a:solidFill>
            <a:prstDash val="solid"/>
          </a:ln>
        </p:spPr>
        <p:txBody>
          <a:bodyPr/>
          <a:lstStyle/>
          <a:p>
            <a:endParaRPr lang="en-US"/>
          </a:p>
        </p:txBody>
      </p:sp>
      <p:pic>
        <p:nvPicPr>
          <p:cNvPr id="45" name="Image 3" descr="preencoded.png"/>
          <p:cNvPicPr>
            <a:picLocks noChangeAspect="1"/>
          </p:cNvPicPr>
          <p:nvPr/>
        </p:nvPicPr>
        <p:blipFill>
          <a:blip r:embed="rId5"/>
          <a:stretch>
            <a:fillRect/>
          </a:stretch>
        </p:blipFill>
        <p:spPr>
          <a:xfrm>
            <a:off x="502920" y="2651760"/>
            <a:ext cx="329184" cy="329184"/>
          </a:xfrm>
          <a:prstGeom prst="rect">
            <a:avLst/>
          </a:prstGeom>
        </p:spPr>
      </p:pic>
      <p:sp>
        <p:nvSpPr>
          <p:cNvPr id="46" name="Text 39"/>
          <p:cNvSpPr/>
          <p:nvPr/>
        </p:nvSpPr>
        <p:spPr>
          <a:xfrm>
            <a:off x="877824" y="2651760"/>
            <a:ext cx="3566160" cy="274320"/>
          </a:xfrm>
          <a:prstGeom prst="rect">
            <a:avLst/>
          </a:prstGeom>
          <a:noFill/>
          <a:ln/>
        </p:spPr>
        <p:txBody>
          <a:bodyPr wrap="square" lIns="0" tIns="0" rIns="0" bIns="0" rtlCol="0" anchor="ctr"/>
          <a:lstStyle/>
          <a:p>
            <a:pPr marL="0" indent="0">
              <a:buNone/>
            </a:pPr>
            <a:r>
              <a:rPr lang="en-US" sz="1200" b="1" dirty="0">
                <a:solidFill>
                  <a:srgbClr val="E8365D"/>
                </a:solidFill>
                <a:latin typeface="Trebuchet MS" pitchFamily="34" charset="0"/>
                <a:ea typeface="Trebuchet MS" pitchFamily="34" charset="-122"/>
                <a:cs typeface="Trebuchet MS" pitchFamily="34" charset="-120"/>
              </a:rPr>
              <a:t>The BSOD — DRIVER_IRQL_NOT_LESS_OR_EQUAL</a:t>
            </a:r>
            <a:endParaRPr lang="en-US" sz="1200" dirty="0"/>
          </a:p>
        </p:txBody>
      </p:sp>
      <p:sp>
        <p:nvSpPr>
          <p:cNvPr id="47" name="Text 40"/>
          <p:cNvSpPr/>
          <p:nvPr/>
        </p:nvSpPr>
        <p:spPr>
          <a:xfrm>
            <a:off x="502920" y="3017520"/>
            <a:ext cx="2560320" cy="2011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Cause: wrong callback signature</a:t>
            </a:r>
            <a:endParaRPr lang="en-US" sz="1050" dirty="0"/>
          </a:p>
        </p:txBody>
      </p:sp>
      <p:sp>
        <p:nvSpPr>
          <p:cNvPr id="48" name="Text 41"/>
          <p:cNvSpPr/>
          <p:nvPr/>
        </p:nvSpPr>
        <p:spPr>
          <a:xfrm>
            <a:off x="502920" y="3236976"/>
            <a:ext cx="2560320" cy="1005840"/>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PsSetCreateProcessNotifyRoutine</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vs</a:t>
            </a: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PsSetCreateProcessNotifyRoutineEx</a:t>
            </a:r>
            <a:endParaRPr lang="en-US" sz="950" dirty="0"/>
          </a:p>
          <a:p>
            <a:pPr marL="0" indent="0">
              <a:buNone/>
            </a:pPr>
            <a:endParaRPr lang="en-US" sz="950" dirty="0"/>
          </a:p>
          <a:p>
            <a:pPr marL="0" indent="0">
              <a:buNone/>
            </a:pPr>
            <a:r>
              <a:rPr lang="en-US" sz="950" dirty="0">
                <a:solidFill>
                  <a:srgbClr val="B8D4E8"/>
                </a:solidFill>
                <a:latin typeface="Calibri" pitchFamily="34" charset="0"/>
                <a:ea typeface="Calibri" pitchFamily="34" charset="-122"/>
                <a:cs typeface="Calibri" pitchFamily="34" charset="-120"/>
              </a:rPr>
              <a:t>One mismatched parameter type. No warning. No error message. The entire OS goes down.</a:t>
            </a:r>
            <a:endParaRPr lang="en-US" sz="950" dirty="0"/>
          </a:p>
        </p:txBody>
      </p:sp>
      <p:pic>
        <p:nvPicPr>
          <p:cNvPr id="49" name="Image 4" descr="preencoded.png"/>
          <p:cNvPicPr>
            <a:picLocks noChangeAspect="1"/>
          </p:cNvPicPr>
          <p:nvPr/>
        </p:nvPicPr>
        <p:blipFill>
          <a:blip r:embed="rId6"/>
          <a:stretch>
            <a:fillRect/>
          </a:stretch>
        </p:blipFill>
        <p:spPr>
          <a:xfrm>
            <a:off x="3108960" y="2651759"/>
            <a:ext cx="1371600" cy="1865377"/>
          </a:xfrm>
          <a:prstGeom prst="rect">
            <a:avLst/>
          </a:prstGeom>
          <a:effectLst>
            <a:outerShdw blurRad="127000" dist="38100" dir="8100000" algn="bl" rotWithShape="0">
              <a:srgbClr val="000000">
                <a:alpha val="35000"/>
              </a:srgbClr>
            </a:outerShdw>
          </a:effectLst>
        </p:spPr>
      </p:pic>
      <p:sp>
        <p:nvSpPr>
          <p:cNvPr id="51" name="Text 43"/>
          <p:cNvSpPr/>
          <p:nvPr/>
        </p:nvSpPr>
        <p:spPr>
          <a:xfrm>
            <a:off x="3108960" y="4558411"/>
            <a:ext cx="1371600" cy="164592"/>
          </a:xfrm>
          <a:prstGeom prst="rect">
            <a:avLst/>
          </a:prstGeom>
          <a:noFill/>
          <a:ln/>
        </p:spPr>
        <p:txBody>
          <a:bodyPr wrap="square" lIns="0" tIns="0" rIns="0" bIns="0" rtlCol="0" anchor="ctr"/>
          <a:lstStyle/>
          <a:p>
            <a:pPr marL="0" indent="0" algn="ctr">
              <a:buNone/>
            </a:pPr>
            <a:r>
              <a:rPr lang="en-US" sz="700" i="1" dirty="0">
                <a:solidFill>
                  <a:srgbClr val="7A9DB8"/>
                </a:solidFill>
                <a:latin typeface="Calibri" pitchFamily="34" charset="0"/>
                <a:ea typeface="Calibri" pitchFamily="34" charset="-122"/>
                <a:cs typeface="Calibri" pitchFamily="34" charset="-120"/>
              </a:rPr>
              <a:t>WinDbg → VM connected</a:t>
            </a:r>
            <a:endParaRPr lang="en-US" sz="700" dirty="0"/>
          </a:p>
        </p:txBody>
      </p:sp>
      <p:sp>
        <p:nvSpPr>
          <p:cNvPr id="52" name="Shape 44"/>
          <p:cNvSpPr/>
          <p:nvPr/>
        </p:nvSpPr>
        <p:spPr>
          <a:xfrm>
            <a:off x="4754880" y="2578608"/>
            <a:ext cx="4041648" cy="2286000"/>
          </a:xfrm>
          <a:prstGeom prst="rect">
            <a:avLst/>
          </a:prstGeom>
          <a:solidFill>
            <a:srgbClr val="050E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53" name="Shape 45"/>
          <p:cNvSpPr/>
          <p:nvPr/>
        </p:nvSpPr>
        <p:spPr>
          <a:xfrm>
            <a:off x="4754880" y="2578608"/>
            <a:ext cx="4041648" cy="36576"/>
          </a:xfrm>
          <a:prstGeom prst="rect">
            <a:avLst/>
          </a:prstGeom>
          <a:solidFill>
            <a:srgbClr val="00C896"/>
          </a:solidFill>
          <a:ln w="12700">
            <a:solidFill>
              <a:srgbClr val="00C896"/>
            </a:solidFill>
            <a:prstDash val="solid"/>
          </a:ln>
        </p:spPr>
        <p:txBody>
          <a:bodyPr/>
          <a:lstStyle/>
          <a:p>
            <a:endParaRPr lang="en-US"/>
          </a:p>
        </p:txBody>
      </p:sp>
      <p:pic>
        <p:nvPicPr>
          <p:cNvPr id="54" name="Image 5" descr="preencoded.png"/>
          <p:cNvPicPr>
            <a:picLocks noChangeAspect="1"/>
          </p:cNvPicPr>
          <p:nvPr/>
        </p:nvPicPr>
        <p:blipFill>
          <a:blip r:embed="rId7"/>
          <a:stretch>
            <a:fillRect/>
          </a:stretch>
        </p:blipFill>
        <p:spPr>
          <a:xfrm>
            <a:off x="4892040" y="2651760"/>
            <a:ext cx="329184" cy="329184"/>
          </a:xfrm>
          <a:prstGeom prst="rect">
            <a:avLst/>
          </a:prstGeom>
        </p:spPr>
      </p:pic>
      <p:sp>
        <p:nvSpPr>
          <p:cNvPr id="55" name="Text 46"/>
          <p:cNvSpPr/>
          <p:nvPr/>
        </p:nvSpPr>
        <p:spPr>
          <a:xfrm>
            <a:off x="5266944" y="2651760"/>
            <a:ext cx="3401568" cy="274320"/>
          </a:xfrm>
          <a:prstGeom prst="rect">
            <a:avLst/>
          </a:prstGeom>
          <a:noFill/>
          <a:ln/>
        </p:spPr>
        <p:txBody>
          <a:bodyPr wrap="square" lIns="0" tIns="0" rIns="0" bIns="0" rtlCol="0" anchor="ctr"/>
          <a:lstStyle/>
          <a:p>
            <a:pPr marL="0" indent="0">
              <a:buNone/>
            </a:pPr>
            <a:r>
              <a:rPr lang="en-US" sz="1200" b="1" dirty="0">
                <a:solidFill>
                  <a:srgbClr val="00C896"/>
                </a:solidFill>
                <a:latin typeface="Trebuchet MS" pitchFamily="34" charset="0"/>
                <a:ea typeface="Trebuchet MS" pitchFamily="34" charset="-122"/>
                <a:cs typeface="Trebuchet MS" pitchFamily="34" charset="-120"/>
              </a:rPr>
              <a:t>After fix — PhantomGuard working</a:t>
            </a:r>
            <a:endParaRPr lang="en-US" sz="1200" dirty="0"/>
          </a:p>
        </p:txBody>
      </p:sp>
      <p:pic>
        <p:nvPicPr>
          <p:cNvPr id="56" name="Image 6" descr="preencoded.png"/>
          <p:cNvPicPr>
            <a:picLocks noChangeAspect="1"/>
          </p:cNvPicPr>
          <p:nvPr/>
        </p:nvPicPr>
        <p:blipFill>
          <a:blip r:embed="rId8"/>
          <a:stretch>
            <a:fillRect/>
          </a:stretch>
        </p:blipFill>
        <p:spPr>
          <a:xfrm>
            <a:off x="4846320" y="3017520"/>
            <a:ext cx="1664208" cy="841248"/>
          </a:xfrm>
          <a:prstGeom prst="rect">
            <a:avLst/>
          </a:prstGeom>
          <a:effectLst>
            <a:outerShdw blurRad="127000" dist="38100" dir="8100000" algn="bl" rotWithShape="0">
              <a:srgbClr val="000000">
                <a:alpha val="35000"/>
              </a:srgbClr>
            </a:outerShdw>
          </a:effectLst>
        </p:spPr>
      </p:pic>
      <p:sp>
        <p:nvSpPr>
          <p:cNvPr id="57" name="Shape 47"/>
          <p:cNvSpPr/>
          <p:nvPr/>
        </p:nvSpPr>
        <p:spPr>
          <a:xfrm>
            <a:off x="4846320" y="3017520"/>
            <a:ext cx="1664208" cy="841248"/>
          </a:xfrm>
          <a:prstGeom prst="rect">
            <a:avLst/>
          </a:prstGeom>
          <a:solidFill>
            <a:srgbClr val="FFFFFF">
              <a:alpha val="0"/>
            </a:srgbClr>
          </a:solidFill>
          <a:ln w="12700">
            <a:solidFill>
              <a:srgbClr val="00C896"/>
            </a:solidFill>
            <a:prstDash val="solid"/>
          </a:ln>
        </p:spPr>
        <p:txBody>
          <a:bodyPr/>
          <a:lstStyle/>
          <a:p>
            <a:endParaRPr lang="en-US"/>
          </a:p>
        </p:txBody>
      </p:sp>
      <p:sp>
        <p:nvSpPr>
          <p:cNvPr id="58" name="Text 48"/>
          <p:cNvSpPr/>
          <p:nvPr/>
        </p:nvSpPr>
        <p:spPr>
          <a:xfrm>
            <a:off x="4846320" y="3877056"/>
            <a:ext cx="1664208" cy="164592"/>
          </a:xfrm>
          <a:prstGeom prst="rect">
            <a:avLst/>
          </a:prstGeom>
          <a:noFill/>
          <a:ln/>
        </p:spPr>
        <p:txBody>
          <a:bodyPr wrap="square" lIns="0" tIns="0" rIns="0" bIns="0" rtlCol="0" anchor="ctr"/>
          <a:lstStyle/>
          <a:p>
            <a:pPr marL="0" indent="0" algn="ctr">
              <a:buNone/>
            </a:pPr>
            <a:r>
              <a:rPr lang="en-US" sz="700" i="1" dirty="0">
                <a:solidFill>
                  <a:srgbClr val="7A9DB8"/>
                </a:solidFill>
                <a:latin typeface="Calibri" pitchFamily="34" charset="0"/>
                <a:ea typeface="Calibri" pitchFamily="34" charset="-122"/>
                <a:cs typeface="Calibri" pitchFamily="34" charset="-120"/>
              </a:rPr>
              <a:t>Driver loaded successfully</a:t>
            </a:r>
            <a:endParaRPr lang="en-US" sz="700" dirty="0"/>
          </a:p>
        </p:txBody>
      </p:sp>
      <p:sp>
        <p:nvSpPr>
          <p:cNvPr id="59" name="Text 49"/>
          <p:cNvSpPr/>
          <p:nvPr/>
        </p:nvSpPr>
        <p:spPr>
          <a:xfrm>
            <a:off x="6601968" y="3017520"/>
            <a:ext cx="2084832" cy="822960"/>
          </a:xfrm>
          <a:prstGeom prst="rect">
            <a:avLst/>
          </a:prstGeom>
          <a:noFill/>
          <a:ln/>
        </p:spPr>
        <p:txBody>
          <a:bodyPr wrap="square" lIns="0" tIns="0" rIns="0" bIns="0" rtlCol="0" anchor="ctr"/>
          <a:lstStyle/>
          <a:p>
            <a:pPr marL="0" indent="0">
              <a:buNone/>
            </a:pPr>
            <a:r>
              <a:rPr lang="en-US" sz="1000" dirty="0">
                <a:solidFill>
                  <a:srgbClr val="B8D4E8"/>
                </a:solidFill>
                <a:latin typeface="Calibri" pitchFamily="34" charset="0"/>
                <a:ea typeface="Calibri" pitchFamily="34" charset="-122"/>
                <a:cs typeface="Calibri" pitchFamily="34" charset="-120"/>
              </a:rPr>
              <a:t>Captures every process on the system</a:t>
            </a:r>
            <a:endParaRPr lang="en-US" sz="1000" dirty="0"/>
          </a:p>
          <a:p>
            <a:pPr marL="0" indent="0">
              <a:buNone/>
            </a:pPr>
            <a:r>
              <a:rPr lang="en-US" sz="1000" dirty="0">
                <a:solidFill>
                  <a:srgbClr val="B8D4E8"/>
                </a:solidFill>
                <a:latin typeface="Calibri" pitchFamily="34" charset="0"/>
                <a:ea typeface="Calibri" pitchFamily="34" charset="-122"/>
                <a:cs typeface="Calibri" pitchFamily="34" charset="-120"/>
              </a:rPr>
              <a:t>Completely independent of ETW</a:t>
            </a:r>
            <a:endParaRPr lang="en-US" sz="1000" dirty="0"/>
          </a:p>
          <a:p>
            <a:pPr marL="0" indent="0">
              <a:buNone/>
            </a:pPr>
            <a:r>
              <a:rPr lang="en-US" sz="1000" dirty="0">
                <a:solidFill>
                  <a:srgbClr val="B8D4E8"/>
                </a:solidFill>
                <a:latin typeface="Calibri" pitchFamily="34" charset="0"/>
                <a:ea typeface="Calibri" pitchFamily="34" charset="-122"/>
                <a:cs typeface="Calibri" pitchFamily="34" charset="-120"/>
              </a:rPr>
              <a:t>Unaffected by the 0xC3 patch</a:t>
            </a:r>
            <a:endParaRPr lang="en-US" sz="1000" dirty="0"/>
          </a:p>
        </p:txBody>
      </p:sp>
      <p:sp>
        <p:nvSpPr>
          <p:cNvPr id="60" name="Shape 50"/>
          <p:cNvSpPr/>
          <p:nvPr/>
        </p:nvSpPr>
        <p:spPr>
          <a:xfrm>
            <a:off x="4846320" y="4096512"/>
            <a:ext cx="3822192" cy="640080"/>
          </a:xfrm>
          <a:prstGeom prst="rect">
            <a:avLst/>
          </a:prstGeom>
          <a:solidFill>
            <a:srgbClr val="040F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61" name="Shape 51"/>
          <p:cNvSpPr/>
          <p:nvPr/>
        </p:nvSpPr>
        <p:spPr>
          <a:xfrm>
            <a:off x="4846320" y="4096512"/>
            <a:ext cx="36576" cy="640080"/>
          </a:xfrm>
          <a:prstGeom prst="rect">
            <a:avLst/>
          </a:prstGeom>
          <a:solidFill>
            <a:srgbClr val="00C896"/>
          </a:solidFill>
          <a:ln w="12700">
            <a:solidFill>
              <a:srgbClr val="00C896"/>
            </a:solidFill>
            <a:prstDash val="solid"/>
          </a:ln>
        </p:spPr>
        <p:txBody>
          <a:bodyPr/>
          <a:lstStyle/>
          <a:p>
            <a:endParaRPr lang="en-US"/>
          </a:p>
        </p:txBody>
      </p:sp>
      <p:sp>
        <p:nvSpPr>
          <p:cNvPr id="62" name="Text 52"/>
          <p:cNvSpPr/>
          <p:nvPr/>
        </p:nvSpPr>
        <p:spPr>
          <a:xfrm>
            <a:off x="4974336" y="4133088"/>
            <a:ext cx="3566160" cy="182880"/>
          </a:xfrm>
          <a:prstGeom prst="rect">
            <a:avLst/>
          </a:prstGeom>
          <a:noFill/>
          <a:ln/>
        </p:spPr>
        <p:txBody>
          <a:bodyPr wrap="square" lIns="0" tIns="0" rIns="0" bIns="0" rtlCol="0" anchor="ctr"/>
          <a:lstStyle/>
          <a:p>
            <a:pPr marL="0" indent="0">
              <a:buNone/>
            </a:pPr>
            <a:r>
              <a:rPr lang="en-US" sz="1000" b="1" dirty="0">
                <a:solidFill>
                  <a:srgbClr val="00C896"/>
                </a:solidFill>
                <a:latin typeface="Trebuchet MS" pitchFamily="34" charset="0"/>
                <a:ea typeface="Trebuchet MS" pitchFamily="34" charset="-122"/>
                <a:cs typeface="Trebuchet MS" pitchFamily="34" charset="-120"/>
              </a:rPr>
              <a:t>Second surprise:</a:t>
            </a:r>
            <a:endParaRPr lang="en-US" sz="1000" dirty="0"/>
          </a:p>
        </p:txBody>
      </p:sp>
      <p:sp>
        <p:nvSpPr>
          <p:cNvPr id="63" name="Text 53"/>
          <p:cNvSpPr/>
          <p:nvPr/>
        </p:nvSpPr>
        <p:spPr>
          <a:xfrm>
            <a:off x="4974336" y="4315968"/>
            <a:ext cx="3566160" cy="365760"/>
          </a:xfrm>
          <a:prstGeom prst="rect">
            <a:avLst/>
          </a:prstGeom>
          <a:noFill/>
          <a:ln/>
        </p:spPr>
        <p:txBody>
          <a:bodyPr wrap="square" lIns="0" tIns="0" rIns="0" bIns="0" rtlCol="0" anchor="ctr"/>
          <a:lstStyle/>
          <a:p>
            <a:pPr marL="0" indent="0">
              <a:buNone/>
            </a:pPr>
            <a:r>
              <a:rPr lang="en-US" sz="950" i="1" dirty="0">
                <a:solidFill>
                  <a:srgbClr val="B8D4E8"/>
                </a:solidFill>
                <a:latin typeface="Calibri" pitchFamily="34" charset="0"/>
                <a:ea typeface="Calibri" pitchFamily="34" charset="-122"/>
                <a:cs typeface="Calibri" pitchFamily="34" charset="-120"/>
              </a:rPr>
              <a:t>The most important lesson in kernel development is not how to write the code. It is how to survive getting it wrong.</a:t>
            </a:r>
            <a:endParaRPr lang="en-US" sz="950" dirty="0"/>
          </a:p>
        </p:txBody>
      </p:sp>
      <p:grpSp>
        <p:nvGrpSpPr>
          <p:cNvPr id="2" name="Group 1">
            <a:extLst>
              <a:ext uri="{FF2B5EF4-FFF2-40B4-BE49-F238E27FC236}">
                <a16:creationId xmlns:a16="http://schemas.microsoft.com/office/drawing/2014/main" id="{69A5F601-5CFD-D301-4790-2B6C1F15DFDD}"/>
              </a:ext>
            </a:extLst>
          </p:cNvPr>
          <p:cNvGrpSpPr/>
          <p:nvPr/>
        </p:nvGrpSpPr>
        <p:grpSpPr>
          <a:xfrm>
            <a:off x="7863840" y="164592"/>
            <a:ext cx="914400" cy="566928"/>
            <a:chOff x="7863840" y="164592"/>
            <a:chExt cx="914400" cy="566928"/>
          </a:xfrm>
        </p:grpSpPr>
        <p:sp>
          <p:nvSpPr>
            <p:cNvPr id="64" name="Shape 2">
              <a:extLst>
                <a:ext uri="{FF2B5EF4-FFF2-40B4-BE49-F238E27FC236}">
                  <a16:creationId xmlns:a16="http://schemas.microsoft.com/office/drawing/2014/main" id="{0BBD9EA8-32CC-86F9-368E-DDBA19DC6977}"/>
                </a:ext>
              </a:extLst>
            </p:cNvPr>
            <p:cNvSpPr/>
            <p:nvPr/>
          </p:nvSpPr>
          <p:spPr>
            <a:xfrm>
              <a:off x="7863840" y="164592"/>
              <a:ext cx="914400" cy="566928"/>
            </a:xfrm>
            <a:prstGeom prst="rect">
              <a:avLst/>
            </a:prstGeom>
            <a:solidFill>
              <a:srgbClr val="0E1E3A"/>
            </a:solidFill>
            <a:ln w="12700">
              <a:solidFill>
                <a:srgbClr val="FF6B35"/>
              </a:solidFill>
              <a:prstDash val="solid"/>
            </a:ln>
          </p:spPr>
          <p:txBody>
            <a:bodyPr/>
            <a:lstStyle/>
            <a:p>
              <a:endParaRPr lang="en-US" dirty="0"/>
            </a:p>
          </p:txBody>
        </p:sp>
        <p:sp>
          <p:nvSpPr>
            <p:cNvPr id="65" name="Text 3">
              <a:extLst>
                <a:ext uri="{FF2B5EF4-FFF2-40B4-BE49-F238E27FC236}">
                  <a16:creationId xmlns:a16="http://schemas.microsoft.com/office/drawing/2014/main" id="{BBA0AE39-F21F-995A-26AE-107D6D540D43}"/>
                </a:ext>
              </a:extLst>
            </p:cNvPr>
            <p:cNvSpPr/>
            <p:nvPr/>
          </p:nvSpPr>
          <p:spPr>
            <a:xfrm>
              <a:off x="7863840" y="164592"/>
              <a:ext cx="914400" cy="274320"/>
            </a:xfrm>
            <a:prstGeom prst="rect">
              <a:avLst/>
            </a:prstGeom>
            <a:noFill/>
            <a:ln/>
          </p:spPr>
          <p:txBody>
            <a:bodyPr wrap="square" lIns="0" tIns="0" rIns="0" bIns="0" rtlCol="0" anchor="ctr"/>
            <a:lstStyle/>
            <a:p>
              <a:pPr marL="0" indent="0" algn="ctr">
                <a:buNone/>
              </a:pPr>
              <a:r>
                <a:rPr lang="en-US" sz="700" b="1" dirty="0">
                  <a:solidFill>
                    <a:srgbClr val="FF6B35"/>
                  </a:solidFill>
                  <a:latin typeface="Consolas" pitchFamily="34" charset="0"/>
                </a:rPr>
                <a:t>CASE</a:t>
              </a:r>
              <a:endParaRPr lang="en-US" sz="700" dirty="0"/>
            </a:p>
          </p:txBody>
        </p:sp>
        <p:sp>
          <p:nvSpPr>
            <p:cNvPr id="66" name="Text 4">
              <a:extLst>
                <a:ext uri="{FF2B5EF4-FFF2-40B4-BE49-F238E27FC236}">
                  <a16:creationId xmlns:a16="http://schemas.microsoft.com/office/drawing/2014/main" id="{675C1311-E52A-F99D-3FDE-12B96B2131C3}"/>
                </a:ext>
              </a:extLst>
            </p:cNvPr>
            <p:cNvSpPr/>
            <p:nvPr/>
          </p:nvSpPr>
          <p:spPr>
            <a:xfrm>
              <a:off x="7863840" y="402336"/>
              <a:ext cx="914400" cy="329184"/>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02</a:t>
              </a:r>
              <a:endParaRPr lang="en-US" sz="2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FFD166"/>
          </a:solidFill>
          <a:ln w="12700">
            <a:solidFill>
              <a:srgbClr val="FFD166"/>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Observation #3 — The Inverse Timing</a:t>
            </a:r>
            <a:endParaRPr lang="en-US" sz="2100" dirty="0"/>
          </a:p>
        </p:txBody>
      </p:sp>
      <p:sp>
        <p:nvSpPr>
          <p:cNvPr id="5" name="Shape 2"/>
          <p:cNvSpPr/>
          <p:nvPr/>
        </p:nvSpPr>
        <p:spPr>
          <a:xfrm>
            <a:off x="7863840" y="164592"/>
            <a:ext cx="914400" cy="566928"/>
          </a:xfrm>
          <a:prstGeom prst="rect">
            <a:avLst/>
          </a:prstGeom>
          <a:solidFill>
            <a:srgbClr val="0E1E3A"/>
          </a:solidFill>
          <a:ln w="12700">
            <a:solidFill>
              <a:srgbClr val="FF6B35"/>
            </a:solidFill>
            <a:prstDash val="solid"/>
          </a:ln>
        </p:spPr>
        <p:txBody>
          <a:bodyPr/>
          <a:lstStyle/>
          <a:p>
            <a:endParaRPr lang="en-US"/>
          </a:p>
        </p:txBody>
      </p:sp>
      <p:sp>
        <p:nvSpPr>
          <p:cNvPr id="6" name="Text 3"/>
          <p:cNvSpPr/>
          <p:nvPr/>
        </p:nvSpPr>
        <p:spPr>
          <a:xfrm>
            <a:off x="7863840" y="164592"/>
            <a:ext cx="914400" cy="274320"/>
          </a:xfrm>
          <a:prstGeom prst="rect">
            <a:avLst/>
          </a:prstGeom>
          <a:noFill/>
          <a:ln/>
        </p:spPr>
        <p:txBody>
          <a:bodyPr wrap="square" lIns="0" tIns="0" rIns="0" bIns="0" rtlCol="0" anchor="ctr"/>
          <a:lstStyle/>
          <a:p>
            <a:pPr marL="0" indent="0" algn="ctr">
              <a:buNone/>
            </a:pPr>
            <a:r>
              <a:rPr lang="en-US" sz="700" b="1" dirty="0">
                <a:solidFill>
                  <a:srgbClr val="FF6B35"/>
                </a:solidFill>
                <a:latin typeface="Consolas" pitchFamily="34" charset="0"/>
                <a:ea typeface="Consolas" pitchFamily="34" charset="-122"/>
                <a:cs typeface="Consolas" pitchFamily="34" charset="-120"/>
              </a:rPr>
              <a:t>CASE</a:t>
            </a:r>
            <a:endParaRPr lang="en-US" sz="700" dirty="0"/>
          </a:p>
        </p:txBody>
      </p:sp>
      <p:sp>
        <p:nvSpPr>
          <p:cNvPr id="7" name="Text 4"/>
          <p:cNvSpPr/>
          <p:nvPr/>
        </p:nvSpPr>
        <p:spPr>
          <a:xfrm>
            <a:off x="7863840" y="402336"/>
            <a:ext cx="914400" cy="329184"/>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03</a:t>
            </a:r>
            <a:endParaRPr lang="en-US" sz="2200" dirty="0"/>
          </a:p>
        </p:txBody>
      </p:sp>
      <p:sp>
        <p:nvSpPr>
          <p:cNvPr id="8" name="Shape 5"/>
          <p:cNvSpPr/>
          <p:nvPr/>
        </p:nvSpPr>
        <p:spPr>
          <a:xfrm>
            <a:off x="365760" y="804672"/>
            <a:ext cx="4023361" cy="4137660"/>
          </a:xfrm>
          <a:prstGeom prst="rect">
            <a:avLst/>
          </a:prstGeom>
          <a:solidFill>
            <a:srgbClr val="0A1628"/>
          </a:solidFill>
          <a:ln w="12700">
            <a:solidFill>
              <a:srgbClr val="1E3A5F"/>
            </a:solidFill>
            <a:prstDash val="solid"/>
          </a:ln>
          <a:effectLst>
            <a:outerShdw blurRad="203200" dist="50800" dir="8100000" algn="bl" rotWithShape="0">
              <a:srgbClr val="000000">
                <a:alpha val="45000"/>
              </a:srgbClr>
            </a:outerShdw>
          </a:effectLst>
        </p:spPr>
        <p:txBody>
          <a:bodyPr/>
          <a:lstStyle/>
          <a:p>
            <a:endParaRPr lang="en-US"/>
          </a:p>
        </p:txBody>
      </p:sp>
      <p:sp>
        <p:nvSpPr>
          <p:cNvPr id="9" name="Shape 6"/>
          <p:cNvSpPr/>
          <p:nvPr/>
        </p:nvSpPr>
        <p:spPr>
          <a:xfrm>
            <a:off x="365760" y="804672"/>
            <a:ext cx="4114800" cy="36576"/>
          </a:xfrm>
          <a:prstGeom prst="rect">
            <a:avLst/>
          </a:prstGeom>
          <a:solidFill>
            <a:srgbClr val="1565C0"/>
          </a:solidFill>
          <a:ln w="12700">
            <a:solidFill>
              <a:srgbClr val="1565C0"/>
            </a:solidFill>
            <a:prstDash val="solid"/>
          </a:ln>
        </p:spPr>
        <p:txBody>
          <a:bodyPr/>
          <a:lstStyle/>
          <a:p>
            <a:endParaRPr lang="en-US"/>
          </a:p>
        </p:txBody>
      </p:sp>
      <p:sp>
        <p:nvSpPr>
          <p:cNvPr id="10" name="Text 7"/>
          <p:cNvSpPr/>
          <p:nvPr/>
        </p:nvSpPr>
        <p:spPr>
          <a:xfrm>
            <a:off x="502920" y="877824"/>
            <a:ext cx="3840480" cy="274320"/>
          </a:xfrm>
          <a:prstGeom prst="rect">
            <a:avLst/>
          </a:prstGeom>
          <a:noFill/>
          <a:ln/>
        </p:spPr>
        <p:txBody>
          <a:bodyPr wrap="square" lIns="0" tIns="0" rIns="0" bIns="0" rtlCol="0" anchor="ctr"/>
          <a:lstStyle/>
          <a:p>
            <a:pPr marL="0" indent="0">
              <a:buNone/>
            </a:pPr>
            <a:r>
              <a:rPr lang="en-US" sz="1200" b="1" dirty="0">
                <a:solidFill>
                  <a:srgbClr val="4FC3F7"/>
                </a:solidFill>
                <a:latin typeface="Trebuchet MS" pitchFamily="34" charset="0"/>
                <a:ea typeface="Trebuchet MS" pitchFamily="34" charset="-122"/>
                <a:cs typeface="Trebuchet MS" pitchFamily="34" charset="-120"/>
              </a:rPr>
              <a:t>Cross-Correlation Results</a:t>
            </a:r>
            <a:endParaRPr lang="en-US" sz="1200" dirty="0"/>
          </a:p>
        </p:txBody>
      </p:sp>
      <p:sp>
        <p:nvSpPr>
          <p:cNvPr id="11" name="Shape 8"/>
          <p:cNvSpPr/>
          <p:nvPr/>
        </p:nvSpPr>
        <p:spPr>
          <a:xfrm>
            <a:off x="475488" y="1234440"/>
            <a:ext cx="1920240" cy="914400"/>
          </a:xfrm>
          <a:prstGeom prst="rect">
            <a:avLst/>
          </a:prstGeom>
          <a:solidFill>
            <a:srgbClr val="0E1E3A"/>
          </a:solidFill>
          <a:ln w="12700">
            <a:solidFill>
              <a:srgbClr val="FFD166"/>
            </a:solidFill>
            <a:prstDash val="solid"/>
          </a:ln>
        </p:spPr>
        <p:txBody>
          <a:bodyPr/>
          <a:lstStyle/>
          <a:p>
            <a:endParaRPr lang="en-US"/>
          </a:p>
        </p:txBody>
      </p:sp>
      <p:sp>
        <p:nvSpPr>
          <p:cNvPr id="12" name="Text 9"/>
          <p:cNvSpPr/>
          <p:nvPr/>
        </p:nvSpPr>
        <p:spPr>
          <a:xfrm>
            <a:off x="475488" y="1261872"/>
            <a:ext cx="1920240" cy="530352"/>
          </a:xfrm>
          <a:prstGeom prst="rect">
            <a:avLst/>
          </a:prstGeom>
          <a:noFill/>
          <a:ln/>
        </p:spPr>
        <p:txBody>
          <a:bodyPr wrap="square" lIns="0" tIns="0" rIns="0" bIns="0" rtlCol="0" anchor="ctr"/>
          <a:lstStyle/>
          <a:p>
            <a:pPr marL="0" indent="0" algn="ctr">
              <a:buNone/>
            </a:pPr>
            <a:r>
              <a:rPr lang="en-US" sz="4000" b="1" dirty="0">
                <a:solidFill>
                  <a:srgbClr val="FFD166"/>
                </a:solidFill>
                <a:latin typeface="Trebuchet MS" pitchFamily="34" charset="0"/>
                <a:ea typeface="Trebuchet MS" pitchFamily="34" charset="-122"/>
                <a:cs typeface="Trebuchet MS" pitchFamily="34" charset="-120"/>
              </a:rPr>
              <a:t>1.13%</a:t>
            </a:r>
            <a:endParaRPr lang="en-US" sz="4000" dirty="0"/>
          </a:p>
        </p:txBody>
      </p:sp>
      <p:sp>
        <p:nvSpPr>
          <p:cNvPr id="13" name="Text 10"/>
          <p:cNvSpPr/>
          <p:nvPr/>
        </p:nvSpPr>
        <p:spPr>
          <a:xfrm>
            <a:off x="475488" y="1773936"/>
            <a:ext cx="1920240" cy="329184"/>
          </a:xfrm>
          <a:prstGeom prst="rect">
            <a:avLst/>
          </a:prstGeom>
          <a:noFill/>
          <a:ln/>
        </p:spPr>
        <p:txBody>
          <a:bodyPr wrap="square" lIns="0" tIns="0" rIns="0" bIns="0" rtlCol="0" anchor="ctr"/>
          <a:lstStyle/>
          <a:p>
            <a:pPr marL="0" indent="0" algn="ctr">
              <a:buNone/>
            </a:pPr>
            <a:r>
              <a:rPr lang="en-US" sz="1000" dirty="0">
                <a:solidFill>
                  <a:srgbClr val="B8D4E8"/>
                </a:solidFill>
                <a:latin typeface="Calibri" pitchFamily="34" charset="0"/>
                <a:ea typeface="Calibri" pitchFamily="34" charset="-122"/>
                <a:cs typeface="Calibri" pitchFamily="34" charset="-120"/>
              </a:rPr>
              <a:t>detection gap</a:t>
            </a:r>
            <a:endParaRPr lang="en-US" sz="1000" dirty="0"/>
          </a:p>
        </p:txBody>
      </p:sp>
      <p:sp>
        <p:nvSpPr>
          <p:cNvPr id="14" name="Shape 11"/>
          <p:cNvSpPr/>
          <p:nvPr/>
        </p:nvSpPr>
        <p:spPr>
          <a:xfrm>
            <a:off x="2487168" y="1234440"/>
            <a:ext cx="1883664" cy="914400"/>
          </a:xfrm>
          <a:prstGeom prst="rect">
            <a:avLst/>
          </a:prstGeom>
          <a:solidFill>
            <a:srgbClr val="0E1E3A"/>
          </a:solidFill>
          <a:ln w="12700">
            <a:solidFill>
              <a:srgbClr val="00C896"/>
            </a:solidFill>
            <a:prstDash val="solid"/>
          </a:ln>
        </p:spPr>
        <p:txBody>
          <a:bodyPr/>
          <a:lstStyle/>
          <a:p>
            <a:endParaRPr lang="en-US"/>
          </a:p>
        </p:txBody>
      </p:sp>
      <p:sp>
        <p:nvSpPr>
          <p:cNvPr id="15" name="Text 12"/>
          <p:cNvSpPr/>
          <p:nvPr/>
        </p:nvSpPr>
        <p:spPr>
          <a:xfrm>
            <a:off x="2487168" y="1261872"/>
            <a:ext cx="1883664" cy="530352"/>
          </a:xfrm>
          <a:prstGeom prst="rect">
            <a:avLst/>
          </a:prstGeom>
          <a:noFill/>
          <a:ln/>
        </p:spPr>
        <p:txBody>
          <a:bodyPr wrap="square" lIns="0" tIns="0" rIns="0" bIns="0" rtlCol="0" anchor="ctr"/>
          <a:lstStyle/>
          <a:p>
            <a:pPr marL="0" indent="0" algn="ctr">
              <a:buNone/>
            </a:pPr>
            <a:r>
              <a:rPr lang="en-US" sz="4000" b="1" dirty="0">
                <a:solidFill>
                  <a:srgbClr val="00C896"/>
                </a:solidFill>
                <a:latin typeface="Trebuchet MS" pitchFamily="34" charset="0"/>
                <a:ea typeface="Trebuchet MS" pitchFamily="34" charset="-122"/>
                <a:cs typeface="Trebuchet MS" pitchFamily="34" charset="-120"/>
              </a:rPr>
              <a:t>0</a:t>
            </a:r>
            <a:endParaRPr lang="en-US" sz="4000" dirty="0"/>
          </a:p>
        </p:txBody>
      </p:sp>
      <p:sp>
        <p:nvSpPr>
          <p:cNvPr id="16" name="Text 13"/>
          <p:cNvSpPr/>
          <p:nvPr/>
        </p:nvSpPr>
        <p:spPr>
          <a:xfrm>
            <a:off x="2487168" y="1773936"/>
            <a:ext cx="1883664" cy="329184"/>
          </a:xfrm>
          <a:prstGeom prst="rect">
            <a:avLst/>
          </a:prstGeom>
          <a:noFill/>
          <a:ln/>
        </p:spPr>
        <p:txBody>
          <a:bodyPr wrap="square" lIns="0" tIns="0" rIns="0" bIns="0" rtlCol="0" anchor="ctr"/>
          <a:lstStyle/>
          <a:p>
            <a:pPr marL="0" indent="0" algn="ctr">
              <a:buNone/>
            </a:pPr>
            <a:r>
              <a:rPr lang="en-US" sz="1000" dirty="0">
                <a:solidFill>
                  <a:srgbClr val="B8D4E8"/>
                </a:solidFill>
                <a:latin typeface="Calibri" pitchFamily="34" charset="0"/>
                <a:ea typeface="Calibri" pitchFamily="34" charset="-122"/>
                <a:cs typeface="Calibri" pitchFamily="34" charset="-120"/>
              </a:rPr>
              <a:t>false positives (50 tests)</a:t>
            </a:r>
            <a:endParaRPr lang="en-US" sz="1000" dirty="0"/>
          </a:p>
        </p:txBody>
      </p:sp>
      <p:sp>
        <p:nvSpPr>
          <p:cNvPr id="17" name="Shape 14"/>
          <p:cNvSpPr/>
          <p:nvPr/>
        </p:nvSpPr>
        <p:spPr>
          <a:xfrm>
            <a:off x="475488" y="2240280"/>
            <a:ext cx="3877056" cy="658368"/>
          </a:xfrm>
          <a:prstGeom prst="rect">
            <a:avLst/>
          </a:prstGeom>
          <a:solidFill>
            <a:srgbClr val="0A1820"/>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18" name="Shape 15"/>
          <p:cNvSpPr/>
          <p:nvPr/>
        </p:nvSpPr>
        <p:spPr>
          <a:xfrm>
            <a:off x="475488" y="2240280"/>
            <a:ext cx="36576" cy="658368"/>
          </a:xfrm>
          <a:prstGeom prst="rect">
            <a:avLst/>
          </a:prstGeom>
          <a:solidFill>
            <a:srgbClr val="FF6B35"/>
          </a:solidFill>
          <a:ln w="12700">
            <a:solidFill>
              <a:srgbClr val="FF6B35"/>
            </a:solidFill>
            <a:prstDash val="solid"/>
          </a:ln>
        </p:spPr>
        <p:txBody>
          <a:bodyPr/>
          <a:lstStyle/>
          <a:p>
            <a:endParaRPr lang="en-US"/>
          </a:p>
        </p:txBody>
      </p:sp>
      <p:sp>
        <p:nvSpPr>
          <p:cNvPr id="19" name="Text 16"/>
          <p:cNvSpPr/>
          <p:nvPr/>
        </p:nvSpPr>
        <p:spPr>
          <a:xfrm>
            <a:off x="603504" y="2276856"/>
            <a:ext cx="3657600" cy="201168"/>
          </a:xfrm>
          <a:prstGeom prst="rect">
            <a:avLst/>
          </a:prstGeom>
          <a:noFill/>
          <a:ln/>
        </p:spPr>
        <p:txBody>
          <a:bodyPr wrap="square" lIns="0" tIns="0" rIns="0" bIns="0" rtlCol="0" anchor="ctr"/>
          <a:lstStyle/>
          <a:p>
            <a:pPr marL="0" indent="0">
              <a:buNone/>
            </a:pPr>
            <a:r>
              <a:rPr lang="en-US" sz="1050" b="1" dirty="0">
                <a:solidFill>
                  <a:srgbClr val="FF6B35"/>
                </a:solidFill>
                <a:latin typeface="Trebuchet MS" pitchFamily="34" charset="0"/>
                <a:ea typeface="Trebuchet MS" pitchFamily="34" charset="-122"/>
                <a:cs typeface="Trebuchet MS" pitchFamily="34" charset="-120"/>
              </a:rPr>
              <a:t>Ghost Processes — ETW-invisible without tampering</a:t>
            </a:r>
            <a:endParaRPr lang="en-US" sz="1050" dirty="0"/>
          </a:p>
        </p:txBody>
      </p:sp>
      <p:sp>
        <p:nvSpPr>
          <p:cNvPr id="20" name="Text 17"/>
          <p:cNvSpPr/>
          <p:nvPr/>
        </p:nvSpPr>
        <p:spPr>
          <a:xfrm>
            <a:off x="603504" y="2487168"/>
            <a:ext cx="3657600" cy="347472"/>
          </a:xfrm>
          <a:prstGeom prst="rect">
            <a:avLst/>
          </a:prstGeom>
          <a:noFill/>
          <a:ln/>
        </p:spPr>
        <p:txBody>
          <a:bodyPr wrap="square" lIns="0" tIns="0" rIns="0" bIns="0" rtlCol="0" anchor="ctr"/>
          <a:lstStyle/>
          <a:p>
            <a:pPr marL="0" indent="0">
              <a:buNone/>
            </a:pPr>
            <a:r>
              <a:rPr lang="en-US" sz="950" dirty="0">
                <a:solidFill>
                  <a:srgbClr val="B8D4E8"/>
                </a:solidFill>
                <a:latin typeface="Consolas" pitchFamily="34" charset="0"/>
                <a:ea typeface="Consolas" pitchFamily="34" charset="-122"/>
                <a:cs typeface="Consolas" pitchFamily="34" charset="-120"/>
              </a:rPr>
              <a:t>AdobeARM.exe  ·  DataExchangeHost.exe</a:t>
            </a:r>
            <a:endParaRPr lang="en-US" sz="950" dirty="0"/>
          </a:p>
        </p:txBody>
      </p:sp>
      <p:pic>
        <p:nvPicPr>
          <p:cNvPr id="21" name="Image 0" descr="preencoded.png"/>
          <p:cNvPicPr>
            <a:picLocks noChangeAspect="1"/>
          </p:cNvPicPr>
          <p:nvPr/>
        </p:nvPicPr>
        <p:blipFill>
          <a:blip r:embed="rId3"/>
          <a:stretch>
            <a:fillRect/>
          </a:stretch>
        </p:blipFill>
        <p:spPr>
          <a:xfrm>
            <a:off x="475488" y="2980944"/>
            <a:ext cx="3877056" cy="1645920"/>
          </a:xfrm>
          <a:prstGeom prst="rect">
            <a:avLst/>
          </a:prstGeom>
          <a:effectLst>
            <a:outerShdw blurRad="127000" dist="38100" dir="8100000" algn="bl" rotWithShape="0">
              <a:srgbClr val="000000">
                <a:alpha val="35000"/>
              </a:srgbClr>
            </a:outerShdw>
          </a:effectLst>
        </p:spPr>
      </p:pic>
      <p:sp>
        <p:nvSpPr>
          <p:cNvPr id="22" name="Shape 18"/>
          <p:cNvSpPr/>
          <p:nvPr/>
        </p:nvSpPr>
        <p:spPr>
          <a:xfrm>
            <a:off x="475488" y="2980944"/>
            <a:ext cx="3877056" cy="1645920"/>
          </a:xfrm>
          <a:prstGeom prst="rect">
            <a:avLst/>
          </a:prstGeom>
          <a:solidFill>
            <a:srgbClr val="FFFFFF">
              <a:alpha val="0"/>
            </a:srgbClr>
          </a:solidFill>
          <a:ln w="12700">
            <a:solidFill>
              <a:srgbClr val="007A99"/>
            </a:solidFill>
            <a:prstDash val="solid"/>
          </a:ln>
        </p:spPr>
        <p:txBody>
          <a:bodyPr/>
          <a:lstStyle/>
          <a:p>
            <a:endParaRPr lang="en-US"/>
          </a:p>
        </p:txBody>
      </p:sp>
      <p:sp>
        <p:nvSpPr>
          <p:cNvPr id="23" name="Text 19"/>
          <p:cNvSpPr/>
          <p:nvPr/>
        </p:nvSpPr>
        <p:spPr>
          <a:xfrm>
            <a:off x="475488" y="4626864"/>
            <a:ext cx="3877056" cy="182880"/>
          </a:xfrm>
          <a:prstGeom prst="rect">
            <a:avLst/>
          </a:prstGeom>
          <a:noFill/>
          <a:ln/>
        </p:spPr>
        <p:txBody>
          <a:bodyPr wrap="square" lIns="0" tIns="0" rIns="0" bIns="0" rtlCol="0" anchor="ctr"/>
          <a:lstStyle/>
          <a:p>
            <a:pPr marL="0" indent="0" algn="ctr">
              <a:buNone/>
            </a:pPr>
            <a:r>
              <a:rPr lang="en-US" sz="750" i="1" dirty="0">
                <a:solidFill>
                  <a:srgbClr val="7A9DB8"/>
                </a:solidFill>
                <a:latin typeface="Calibri" pitchFamily="34" charset="0"/>
                <a:ea typeface="Calibri" pitchFamily="34" charset="-122"/>
                <a:cs typeface="Calibri" pitchFamily="34" charset="-120"/>
              </a:rPr>
              <a:t>Actual cross-correlator output  ·  April 8, 2026</a:t>
            </a:r>
            <a:endParaRPr lang="en-US" sz="750" dirty="0"/>
          </a:p>
        </p:txBody>
      </p:sp>
      <p:sp>
        <p:nvSpPr>
          <p:cNvPr id="24" name="Shape 20"/>
          <p:cNvSpPr/>
          <p:nvPr/>
        </p:nvSpPr>
        <p:spPr>
          <a:xfrm>
            <a:off x="4645152" y="804672"/>
            <a:ext cx="4151376" cy="3200400"/>
          </a:xfrm>
          <a:prstGeom prst="rect">
            <a:avLst/>
          </a:prstGeom>
          <a:solidFill>
            <a:srgbClr val="0A1628"/>
          </a:solidFill>
          <a:ln w="12700">
            <a:solidFill>
              <a:srgbClr val="2D1B4E"/>
            </a:solidFill>
            <a:prstDash val="solid"/>
          </a:ln>
          <a:effectLst>
            <a:outerShdw blurRad="203200" dist="50800" dir="8100000" algn="bl" rotWithShape="0">
              <a:srgbClr val="000000">
                <a:alpha val="45000"/>
              </a:srgbClr>
            </a:outerShdw>
          </a:effectLst>
        </p:spPr>
        <p:txBody>
          <a:bodyPr/>
          <a:lstStyle/>
          <a:p>
            <a:endParaRPr lang="en-US"/>
          </a:p>
        </p:txBody>
      </p:sp>
      <p:sp>
        <p:nvSpPr>
          <p:cNvPr id="25" name="Shape 21"/>
          <p:cNvSpPr/>
          <p:nvPr/>
        </p:nvSpPr>
        <p:spPr>
          <a:xfrm>
            <a:off x="4645152" y="804672"/>
            <a:ext cx="4151376" cy="36576"/>
          </a:xfrm>
          <a:prstGeom prst="rect">
            <a:avLst/>
          </a:prstGeom>
          <a:solidFill>
            <a:srgbClr val="7B61FF"/>
          </a:solidFill>
          <a:ln w="12700">
            <a:solidFill>
              <a:srgbClr val="7B61FF"/>
            </a:solidFill>
            <a:prstDash val="solid"/>
          </a:ln>
        </p:spPr>
        <p:txBody>
          <a:bodyPr/>
          <a:lstStyle/>
          <a:p>
            <a:endParaRPr lang="en-US"/>
          </a:p>
        </p:txBody>
      </p:sp>
      <p:sp>
        <p:nvSpPr>
          <p:cNvPr id="26" name="Text 22"/>
          <p:cNvSpPr/>
          <p:nvPr/>
        </p:nvSpPr>
        <p:spPr>
          <a:xfrm>
            <a:off x="4782312" y="877824"/>
            <a:ext cx="3840480" cy="274320"/>
          </a:xfrm>
          <a:prstGeom prst="rect">
            <a:avLst/>
          </a:prstGeom>
          <a:noFill/>
          <a:ln/>
        </p:spPr>
        <p:txBody>
          <a:bodyPr wrap="square" lIns="0" tIns="0" rIns="0" bIns="0" rtlCol="0" anchor="ctr"/>
          <a:lstStyle/>
          <a:p>
            <a:pPr marL="0" indent="0">
              <a:buNone/>
            </a:pPr>
            <a:r>
              <a:rPr lang="en-US" sz="1200" b="1" dirty="0">
                <a:solidFill>
                  <a:srgbClr val="A78BFA"/>
                </a:solidFill>
                <a:latin typeface="Trebuchet MS" pitchFamily="34" charset="0"/>
                <a:ea typeface="Trebuchet MS" pitchFamily="34" charset="-122"/>
                <a:cs typeface="Trebuchet MS" pitchFamily="34" charset="-120"/>
              </a:rPr>
              <a:t>The Timing Finding</a:t>
            </a:r>
            <a:endParaRPr lang="en-US" sz="1200" dirty="0"/>
          </a:p>
        </p:txBody>
      </p:sp>
      <p:sp>
        <p:nvSpPr>
          <p:cNvPr id="27" name="Shape 23"/>
          <p:cNvSpPr/>
          <p:nvPr/>
        </p:nvSpPr>
        <p:spPr>
          <a:xfrm>
            <a:off x="4754880" y="1234440"/>
            <a:ext cx="3913632" cy="914400"/>
          </a:xfrm>
          <a:prstGeom prst="rect">
            <a:avLst/>
          </a:prstGeom>
          <a:solidFill>
            <a:srgbClr val="120808"/>
          </a:solidFill>
          <a:ln w="12700">
            <a:solidFill>
              <a:srgbClr val="E8365D"/>
            </a:solidFill>
            <a:prstDash val="solid"/>
          </a:ln>
          <a:effectLst>
            <a:outerShdw blurRad="203200" dist="50800" dir="8100000" algn="bl" rotWithShape="0">
              <a:srgbClr val="000000">
                <a:alpha val="45000"/>
              </a:srgbClr>
            </a:outerShdw>
          </a:effectLst>
        </p:spPr>
        <p:txBody>
          <a:bodyPr/>
          <a:lstStyle/>
          <a:p>
            <a:endParaRPr lang="en-US"/>
          </a:p>
        </p:txBody>
      </p:sp>
      <p:sp>
        <p:nvSpPr>
          <p:cNvPr id="28" name="Shape 24"/>
          <p:cNvSpPr/>
          <p:nvPr/>
        </p:nvSpPr>
        <p:spPr>
          <a:xfrm>
            <a:off x="4754880" y="1234440"/>
            <a:ext cx="36576" cy="914400"/>
          </a:xfrm>
          <a:prstGeom prst="rect">
            <a:avLst/>
          </a:prstGeom>
          <a:solidFill>
            <a:srgbClr val="E8365D"/>
          </a:solidFill>
          <a:ln w="12700">
            <a:solidFill>
              <a:srgbClr val="E8365D"/>
            </a:solidFill>
            <a:prstDash val="solid"/>
          </a:ln>
        </p:spPr>
        <p:txBody>
          <a:bodyPr/>
          <a:lstStyle/>
          <a:p>
            <a:endParaRPr lang="en-US"/>
          </a:p>
        </p:txBody>
      </p:sp>
      <p:sp>
        <p:nvSpPr>
          <p:cNvPr id="29" name="Text 25"/>
          <p:cNvSpPr/>
          <p:nvPr/>
        </p:nvSpPr>
        <p:spPr>
          <a:xfrm>
            <a:off x="4882896" y="1261872"/>
            <a:ext cx="3621024" cy="201168"/>
          </a:xfrm>
          <a:prstGeom prst="rect">
            <a:avLst/>
          </a:prstGeom>
          <a:noFill/>
          <a:ln/>
        </p:spPr>
        <p:txBody>
          <a:bodyPr wrap="square" lIns="0" tIns="0" rIns="0" bIns="0" rtlCol="0" anchor="ctr"/>
          <a:lstStyle/>
          <a:p>
            <a:pPr marL="0" indent="0">
              <a:buNone/>
            </a:pPr>
            <a:r>
              <a:rPr lang="en-US" sz="1100" b="1" dirty="0">
                <a:solidFill>
                  <a:srgbClr val="E8365D"/>
                </a:solidFill>
                <a:latin typeface="Trebuchet MS" pitchFamily="34" charset="0"/>
                <a:ea typeface="Trebuchet MS" pitchFamily="34" charset="-122"/>
                <a:cs typeface="Trebuchet MS" pitchFamily="34" charset="-120"/>
              </a:rPr>
              <a:t>Expected</a:t>
            </a:r>
            <a:endParaRPr lang="en-US" sz="1100" dirty="0"/>
          </a:p>
        </p:txBody>
      </p:sp>
      <p:sp>
        <p:nvSpPr>
          <p:cNvPr id="30" name="Text 26"/>
          <p:cNvSpPr/>
          <p:nvPr/>
        </p:nvSpPr>
        <p:spPr>
          <a:xfrm>
            <a:off x="4882896" y="1481328"/>
            <a:ext cx="3621024" cy="475488"/>
          </a:xfrm>
          <a:prstGeom prst="rect">
            <a:avLst/>
          </a:prstGeom>
          <a:noFill/>
          <a:ln/>
        </p:spPr>
        <p:txBody>
          <a:bodyPr wrap="square" lIns="0" tIns="0" rIns="0" bIns="0" rtlCol="0" anchor="ctr"/>
          <a:lstStyle/>
          <a:p>
            <a:pPr marL="0" indent="0">
              <a:buNone/>
            </a:pPr>
            <a:r>
              <a:rPr lang="en-US" sz="1000" dirty="0">
                <a:solidFill>
                  <a:srgbClr val="7A9DB8"/>
                </a:solidFill>
                <a:latin typeface="Calibri" pitchFamily="34" charset="0"/>
                <a:ea typeface="Calibri" pitchFamily="34" charset="-122"/>
                <a:cs typeface="Calibri" pitchFamily="34" charset="-120"/>
              </a:rPr>
              <a:t>Tampering → more chaos → ↑ jitter</a:t>
            </a:r>
            <a:endParaRPr lang="en-US" sz="1000" dirty="0"/>
          </a:p>
          <a:p>
            <a:pPr marL="0" indent="0">
              <a:buNone/>
            </a:pPr>
            <a:r>
              <a:rPr lang="en-US" sz="1000" dirty="0">
                <a:solidFill>
                  <a:srgbClr val="7A9DB8"/>
                </a:solidFill>
                <a:latin typeface="Calibri" pitchFamily="34" charset="0"/>
                <a:ea typeface="Calibri" pitchFamily="34" charset="-122"/>
                <a:cs typeface="Calibri" pitchFamily="34" charset="-120"/>
              </a:rPr>
              <a:t>Scheduling becomes unstable, irregular</a:t>
            </a:r>
            <a:endParaRPr lang="en-US" sz="1000" dirty="0"/>
          </a:p>
        </p:txBody>
      </p:sp>
      <p:sp>
        <p:nvSpPr>
          <p:cNvPr id="31" name="Text 27"/>
          <p:cNvSpPr/>
          <p:nvPr/>
        </p:nvSpPr>
        <p:spPr>
          <a:xfrm>
            <a:off x="4754880" y="2176272"/>
            <a:ext cx="3913632" cy="274320"/>
          </a:xfrm>
          <a:prstGeom prst="rect">
            <a:avLst/>
          </a:prstGeom>
          <a:noFill/>
          <a:ln/>
        </p:spPr>
        <p:txBody>
          <a:bodyPr wrap="square" lIns="0" tIns="0" rIns="0" bIns="0" rtlCol="0" anchor="ctr"/>
          <a:lstStyle/>
          <a:p>
            <a:pPr marL="0" indent="0" algn="ctr">
              <a:buNone/>
            </a:pPr>
            <a:r>
              <a:rPr lang="en-US" sz="1600" b="1" dirty="0">
                <a:solidFill>
                  <a:srgbClr val="7A9DB8"/>
                </a:solidFill>
                <a:latin typeface="Trebuchet MS" pitchFamily="34" charset="0"/>
                <a:ea typeface="Trebuchet MS" pitchFamily="34" charset="-122"/>
                <a:cs typeface="Trebuchet MS" pitchFamily="34" charset="-120"/>
              </a:rPr>
              <a:t>vs</a:t>
            </a:r>
            <a:endParaRPr lang="en-US" sz="1600" dirty="0"/>
          </a:p>
        </p:txBody>
      </p:sp>
      <p:sp>
        <p:nvSpPr>
          <p:cNvPr id="32" name="Shape 28"/>
          <p:cNvSpPr/>
          <p:nvPr/>
        </p:nvSpPr>
        <p:spPr>
          <a:xfrm>
            <a:off x="4754880" y="2487168"/>
            <a:ext cx="3913632" cy="950976"/>
          </a:xfrm>
          <a:prstGeom prst="rect">
            <a:avLst/>
          </a:prstGeom>
          <a:solidFill>
            <a:srgbClr val="040F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33" name="Shape 29"/>
          <p:cNvSpPr/>
          <p:nvPr/>
        </p:nvSpPr>
        <p:spPr>
          <a:xfrm>
            <a:off x="4754880" y="2487168"/>
            <a:ext cx="36576" cy="950976"/>
          </a:xfrm>
          <a:prstGeom prst="rect">
            <a:avLst/>
          </a:prstGeom>
          <a:solidFill>
            <a:srgbClr val="00C896"/>
          </a:solidFill>
          <a:ln w="12700">
            <a:solidFill>
              <a:srgbClr val="00C896"/>
            </a:solidFill>
            <a:prstDash val="solid"/>
          </a:ln>
        </p:spPr>
        <p:txBody>
          <a:bodyPr/>
          <a:lstStyle/>
          <a:p>
            <a:endParaRPr lang="en-US"/>
          </a:p>
        </p:txBody>
      </p:sp>
      <p:sp>
        <p:nvSpPr>
          <p:cNvPr id="34" name="Text 30"/>
          <p:cNvSpPr/>
          <p:nvPr/>
        </p:nvSpPr>
        <p:spPr>
          <a:xfrm>
            <a:off x="4882896" y="2523744"/>
            <a:ext cx="3621024" cy="201168"/>
          </a:xfrm>
          <a:prstGeom prst="rect">
            <a:avLst/>
          </a:prstGeom>
          <a:noFill/>
          <a:ln/>
        </p:spPr>
        <p:txBody>
          <a:bodyPr wrap="square" lIns="0" tIns="0" rIns="0" bIns="0" rtlCol="0" anchor="ctr"/>
          <a:lstStyle/>
          <a:p>
            <a:pPr marL="0" indent="0">
              <a:buNone/>
            </a:pPr>
            <a:r>
              <a:rPr lang="en-US" sz="1100" b="1" dirty="0">
                <a:solidFill>
                  <a:srgbClr val="00C896"/>
                </a:solidFill>
                <a:latin typeface="Trebuchet MS" pitchFamily="34" charset="0"/>
                <a:ea typeface="Trebuchet MS" pitchFamily="34" charset="-122"/>
                <a:cs typeface="Trebuchet MS" pitchFamily="34" charset="-120"/>
              </a:rPr>
              <a:t>Actual</a:t>
            </a:r>
            <a:endParaRPr lang="en-US" sz="1100" dirty="0"/>
          </a:p>
        </p:txBody>
      </p:sp>
      <p:sp>
        <p:nvSpPr>
          <p:cNvPr id="35" name="Text 31"/>
          <p:cNvSpPr/>
          <p:nvPr/>
        </p:nvSpPr>
        <p:spPr>
          <a:xfrm>
            <a:off x="4882896" y="2743200"/>
            <a:ext cx="3621024" cy="475488"/>
          </a:xfrm>
          <a:prstGeom prst="rect">
            <a:avLst/>
          </a:prstGeom>
          <a:noFill/>
          <a:ln/>
        </p:spPr>
        <p:txBody>
          <a:bodyPr wrap="square" lIns="0" tIns="0" rIns="0" bIns="0" rtlCol="0" anchor="ctr"/>
          <a:lstStyle/>
          <a:p>
            <a:pPr marL="0" indent="0">
              <a:buNone/>
            </a:pPr>
            <a:r>
              <a:rPr lang="en-US" sz="1000" dirty="0">
                <a:solidFill>
                  <a:srgbClr val="B8D4E8"/>
                </a:solidFill>
                <a:latin typeface="Calibri" pitchFamily="34" charset="0"/>
                <a:ea typeface="Calibri" pitchFamily="34" charset="-122"/>
                <a:cs typeface="Calibri" pitchFamily="34" charset="-120"/>
              </a:rPr>
              <a:t>Tampering → less work → ↓ jitter</a:t>
            </a:r>
            <a:endParaRPr lang="en-US" sz="1000" dirty="0"/>
          </a:p>
          <a:p>
            <a:pPr marL="0" indent="0">
              <a:buNone/>
            </a:pPr>
            <a:r>
              <a:rPr lang="en-US" sz="1000" dirty="0">
                <a:solidFill>
                  <a:srgbClr val="B8D4E8"/>
                </a:solidFill>
                <a:latin typeface="Calibri" pitchFamily="34" charset="0"/>
                <a:ea typeface="Calibri" pitchFamily="34" charset="-122"/>
                <a:cs typeface="Calibri" pitchFamily="34" charset="-120"/>
              </a:rPr>
              <a:t>0xC3 skips all logging — fewer cycles used, tighter scheduling</a:t>
            </a:r>
            <a:endParaRPr lang="en-US" sz="1000" dirty="0"/>
          </a:p>
        </p:txBody>
      </p:sp>
      <p:sp>
        <p:nvSpPr>
          <p:cNvPr id="36" name="Shape 32"/>
          <p:cNvSpPr/>
          <p:nvPr/>
        </p:nvSpPr>
        <p:spPr>
          <a:xfrm>
            <a:off x="4754880" y="3529584"/>
            <a:ext cx="3913632" cy="1298448"/>
          </a:xfrm>
          <a:prstGeom prst="rect">
            <a:avLst/>
          </a:prstGeom>
          <a:solidFill>
            <a:srgbClr val="050A0E"/>
          </a:solidFill>
          <a:ln w="12700">
            <a:solidFill>
              <a:srgbClr val="00D4FF"/>
            </a:solidFill>
            <a:prstDash val="solid"/>
          </a:ln>
          <a:effectLst>
            <a:outerShdw blurRad="203200" dist="50800" dir="8100000" algn="bl" rotWithShape="0">
              <a:srgbClr val="000000">
                <a:alpha val="45000"/>
              </a:srgbClr>
            </a:outerShdw>
          </a:effectLst>
        </p:spPr>
        <p:txBody>
          <a:bodyPr/>
          <a:lstStyle/>
          <a:p>
            <a:endParaRPr lang="en-US"/>
          </a:p>
        </p:txBody>
      </p:sp>
      <p:sp>
        <p:nvSpPr>
          <p:cNvPr id="37" name="Shape 33"/>
          <p:cNvSpPr/>
          <p:nvPr/>
        </p:nvSpPr>
        <p:spPr>
          <a:xfrm>
            <a:off x="4754880" y="3529584"/>
            <a:ext cx="36576" cy="1298448"/>
          </a:xfrm>
          <a:prstGeom prst="rect">
            <a:avLst/>
          </a:prstGeom>
          <a:solidFill>
            <a:srgbClr val="00D4FF"/>
          </a:solidFill>
          <a:ln w="12700">
            <a:solidFill>
              <a:srgbClr val="00D4FF"/>
            </a:solidFill>
            <a:prstDash val="solid"/>
          </a:ln>
        </p:spPr>
        <p:txBody>
          <a:bodyPr/>
          <a:lstStyle/>
          <a:p>
            <a:endParaRPr lang="en-US"/>
          </a:p>
        </p:txBody>
      </p:sp>
      <p:sp>
        <p:nvSpPr>
          <p:cNvPr id="38" name="Text 34"/>
          <p:cNvSpPr/>
          <p:nvPr/>
        </p:nvSpPr>
        <p:spPr>
          <a:xfrm>
            <a:off x="4882896" y="3566160"/>
            <a:ext cx="3657600" cy="219456"/>
          </a:xfrm>
          <a:prstGeom prst="rect">
            <a:avLst/>
          </a:prstGeom>
          <a:noFill/>
          <a:ln/>
        </p:spPr>
        <p:txBody>
          <a:bodyPr wrap="square" lIns="0" tIns="0" rIns="0" bIns="0" rtlCol="0" anchor="ctr"/>
          <a:lstStyle/>
          <a:p>
            <a:pPr marL="0" indent="0">
              <a:buNone/>
            </a:pPr>
            <a:r>
              <a:rPr lang="en-US" sz="1100" b="1" dirty="0">
                <a:solidFill>
                  <a:srgbClr val="00D4FF"/>
                </a:solidFill>
                <a:latin typeface="Trebuchet MS" pitchFamily="34" charset="0"/>
                <a:ea typeface="Trebuchet MS" pitchFamily="34" charset="-122"/>
                <a:cs typeface="Trebuchet MS" pitchFamily="34" charset="-120"/>
              </a:rPr>
              <a:t>Third surprise:</a:t>
            </a:r>
            <a:endParaRPr lang="en-US" sz="1100" dirty="0"/>
          </a:p>
        </p:txBody>
      </p:sp>
      <p:sp>
        <p:nvSpPr>
          <p:cNvPr id="39" name="Text 35"/>
          <p:cNvSpPr/>
          <p:nvPr/>
        </p:nvSpPr>
        <p:spPr>
          <a:xfrm>
            <a:off x="4882896" y="3803904"/>
            <a:ext cx="3657600" cy="658368"/>
          </a:xfrm>
          <a:prstGeom prst="rect">
            <a:avLst/>
          </a:prstGeom>
          <a:noFill/>
          <a:ln/>
        </p:spPr>
        <p:txBody>
          <a:bodyPr wrap="square" lIns="0" tIns="0" rIns="0" bIns="0" rtlCol="0" anchor="ctr"/>
          <a:lstStyle/>
          <a:p>
            <a:pPr marL="0" indent="0">
              <a:buNone/>
            </a:pPr>
            <a:r>
              <a:rPr lang="en-US" sz="1000" dirty="0">
                <a:solidFill>
                  <a:srgbClr val="B8D4E8"/>
                </a:solidFill>
                <a:latin typeface="Calibri" pitchFamily="34" charset="0"/>
                <a:ea typeface="Calibri" pitchFamily="34" charset="-122"/>
                <a:cs typeface="Calibri" pitchFamily="34" charset="-120"/>
              </a:rPr>
              <a:t>Blinding the OS made it more efficient. That efficiency change is a timing signature — detectable from user space without any kernel privileges at all.</a:t>
            </a:r>
            <a:endParaRPr lang="en-US" sz="1000" dirty="0"/>
          </a:p>
        </p:txBody>
      </p:sp>
      <p:sp>
        <p:nvSpPr>
          <p:cNvPr id="40" name="Text 36"/>
          <p:cNvSpPr/>
          <p:nvPr/>
        </p:nvSpPr>
        <p:spPr>
          <a:xfrm>
            <a:off x="4882896" y="4480560"/>
            <a:ext cx="3657600" cy="256032"/>
          </a:xfrm>
          <a:prstGeom prst="rect">
            <a:avLst/>
          </a:prstGeom>
          <a:noFill/>
          <a:ln/>
        </p:spPr>
        <p:txBody>
          <a:bodyPr wrap="square" lIns="0" tIns="0" rIns="0" bIns="0" rtlCol="0" anchor="ctr"/>
          <a:lstStyle/>
          <a:p>
            <a:pPr marL="0" indent="0">
              <a:buNone/>
            </a:pPr>
            <a:r>
              <a:rPr lang="en-US" sz="950" i="1" dirty="0">
                <a:solidFill>
                  <a:srgbClr val="00D4FF"/>
                </a:solidFill>
                <a:latin typeface="Calibri" pitchFamily="34" charset="0"/>
                <a:ea typeface="Calibri" pitchFamily="34" charset="-122"/>
                <a:cs typeface="Calibri" pitchFamily="34" charset="-120"/>
              </a:rPr>
              <a:t>A new detection path nobody else has documented.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00C896"/>
          </a:solidFill>
          <a:ln w="12700">
            <a:solidFill>
              <a:srgbClr val="00C896"/>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What I Proved — Windows and Linux</a:t>
            </a:r>
            <a:endParaRPr lang="en-US" sz="2100" dirty="0"/>
          </a:p>
        </p:txBody>
      </p:sp>
      <p:sp>
        <p:nvSpPr>
          <p:cNvPr id="5" name="Shape 2"/>
          <p:cNvSpPr/>
          <p:nvPr/>
        </p:nvSpPr>
        <p:spPr>
          <a:xfrm>
            <a:off x="365760" y="804672"/>
            <a:ext cx="4023360" cy="3858768"/>
          </a:xfrm>
          <a:prstGeom prst="rect">
            <a:avLst/>
          </a:prstGeom>
          <a:solidFill>
            <a:srgbClr val="0A1628"/>
          </a:solidFill>
          <a:ln w="12700">
            <a:solidFill>
              <a:srgbClr val="1E3A5F"/>
            </a:solidFill>
            <a:prstDash val="solid"/>
          </a:ln>
          <a:effectLst>
            <a:outerShdw blurRad="203200" dist="50800" dir="8100000" algn="bl" rotWithShape="0">
              <a:srgbClr val="000000">
                <a:alpha val="45000"/>
              </a:srgbClr>
            </a:outerShdw>
          </a:effectLst>
        </p:spPr>
        <p:txBody>
          <a:bodyPr/>
          <a:lstStyle/>
          <a:p>
            <a:endParaRPr lang="en-US"/>
          </a:p>
        </p:txBody>
      </p:sp>
      <p:sp>
        <p:nvSpPr>
          <p:cNvPr id="6" name="Shape 3"/>
          <p:cNvSpPr/>
          <p:nvPr/>
        </p:nvSpPr>
        <p:spPr>
          <a:xfrm>
            <a:off x="365760" y="804672"/>
            <a:ext cx="4023360" cy="36576"/>
          </a:xfrm>
          <a:prstGeom prst="rect">
            <a:avLst/>
          </a:prstGeom>
          <a:solidFill>
            <a:srgbClr val="1565C0"/>
          </a:solidFill>
          <a:ln w="12700">
            <a:solidFill>
              <a:srgbClr val="1565C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02920" y="877824"/>
            <a:ext cx="292608" cy="292608"/>
          </a:xfrm>
          <a:prstGeom prst="rect">
            <a:avLst/>
          </a:prstGeom>
        </p:spPr>
      </p:pic>
      <p:sp>
        <p:nvSpPr>
          <p:cNvPr id="8" name="Text 4"/>
          <p:cNvSpPr/>
          <p:nvPr/>
        </p:nvSpPr>
        <p:spPr>
          <a:xfrm>
            <a:off x="841248" y="877824"/>
            <a:ext cx="3401568" cy="274320"/>
          </a:xfrm>
          <a:prstGeom prst="rect">
            <a:avLst/>
          </a:prstGeom>
          <a:noFill/>
          <a:ln/>
        </p:spPr>
        <p:txBody>
          <a:bodyPr wrap="square" lIns="0" tIns="0" rIns="0" bIns="0" rtlCol="0" anchor="ctr"/>
          <a:lstStyle/>
          <a:p>
            <a:pPr marL="0" indent="0">
              <a:buNone/>
            </a:pPr>
            <a:r>
              <a:rPr lang="en-US" sz="1250" b="1" dirty="0">
                <a:solidFill>
                  <a:srgbClr val="4FC3F7"/>
                </a:solidFill>
                <a:latin typeface="Trebuchet MS" pitchFamily="34" charset="0"/>
                <a:ea typeface="Trebuchet MS" pitchFamily="34" charset="-122"/>
                <a:cs typeface="Trebuchet MS" pitchFamily="34" charset="-120"/>
              </a:rPr>
              <a:t>Windows — Partial Blind</a:t>
            </a:r>
            <a:endParaRPr lang="en-US" sz="1250" dirty="0"/>
          </a:p>
        </p:txBody>
      </p:sp>
      <p:sp>
        <p:nvSpPr>
          <p:cNvPr id="9" name="Shape 5"/>
          <p:cNvSpPr/>
          <p:nvPr/>
        </p:nvSpPr>
        <p:spPr>
          <a:xfrm>
            <a:off x="475488" y="1261872"/>
            <a:ext cx="3785616" cy="566928"/>
          </a:xfrm>
          <a:prstGeom prst="rect">
            <a:avLst/>
          </a:prstGeom>
          <a:solidFill>
            <a:srgbClr val="060E1C"/>
          </a:solidFill>
          <a:ln w="12700">
            <a:solidFill>
              <a:srgbClr val="FFD166"/>
            </a:solidFill>
            <a:prstDash val="solid"/>
          </a:ln>
          <a:effectLst>
            <a:outerShdw blurRad="203200" dist="50800" dir="8100000" algn="bl" rotWithShape="0">
              <a:srgbClr val="000000">
                <a:alpha val="45000"/>
              </a:srgbClr>
            </a:outerShdw>
          </a:effectLst>
        </p:spPr>
        <p:txBody>
          <a:bodyPr/>
          <a:lstStyle/>
          <a:p>
            <a:endParaRPr lang="en-US"/>
          </a:p>
        </p:txBody>
      </p:sp>
      <p:sp>
        <p:nvSpPr>
          <p:cNvPr id="10" name="Text 6"/>
          <p:cNvSpPr/>
          <p:nvPr/>
        </p:nvSpPr>
        <p:spPr>
          <a:xfrm>
            <a:off x="603504" y="1316736"/>
            <a:ext cx="3529584" cy="219456"/>
          </a:xfrm>
          <a:prstGeom prst="rect">
            <a:avLst/>
          </a:prstGeom>
          <a:noFill/>
          <a:ln/>
        </p:spPr>
        <p:txBody>
          <a:bodyPr wrap="square" lIns="0" tIns="0" rIns="0" bIns="0" rtlCol="0" anchor="ctr"/>
          <a:lstStyle/>
          <a:p>
            <a:pPr marL="0" indent="0">
              <a:buNone/>
            </a:pPr>
            <a:r>
              <a:rPr lang="en-US" sz="1100" b="1" dirty="0">
                <a:solidFill>
                  <a:srgbClr val="FFD166"/>
                </a:solidFill>
                <a:latin typeface="Calibri" pitchFamily="34" charset="0"/>
                <a:ea typeface="Calibri" pitchFamily="34" charset="-122"/>
                <a:cs typeface="Calibri" pitchFamily="34" charset="-120"/>
              </a:rPr>
              <a:t>1.13% detection gap</a:t>
            </a:r>
            <a:endParaRPr lang="en-US" sz="1100" dirty="0"/>
          </a:p>
        </p:txBody>
      </p:sp>
      <p:sp>
        <p:nvSpPr>
          <p:cNvPr id="11" name="Text 7"/>
          <p:cNvSpPr/>
          <p:nvPr/>
        </p:nvSpPr>
        <p:spPr>
          <a:xfrm>
            <a:off x="603504" y="1554480"/>
            <a:ext cx="3529584" cy="219456"/>
          </a:xfrm>
          <a:prstGeom prst="rect">
            <a:avLst/>
          </a:prstGeom>
          <a:noFill/>
          <a:ln/>
        </p:spPr>
        <p:txBody>
          <a:bodyPr wrap="square" lIns="0" tIns="0" rIns="0" bIns="0" rtlCol="0" anchor="ctr"/>
          <a:lstStyle/>
          <a:p>
            <a:pPr marL="0" indent="0">
              <a:buNone/>
            </a:pPr>
            <a:r>
              <a:rPr lang="en-US" sz="950" dirty="0">
                <a:solidFill>
                  <a:srgbClr val="7A9DB8"/>
                </a:solidFill>
                <a:latin typeface="Calibri" pitchFamily="34" charset="0"/>
                <a:ea typeface="Calibri" pitchFamily="34" charset="-122"/>
                <a:cs typeface="Calibri" pitchFamily="34" charset="-120"/>
              </a:rPr>
              <a:t>2 processes hidden from ETW at Ring 3</a:t>
            </a:r>
            <a:endParaRPr lang="en-US" sz="950" dirty="0"/>
          </a:p>
        </p:txBody>
      </p:sp>
      <p:sp>
        <p:nvSpPr>
          <p:cNvPr id="12" name="Shape 8"/>
          <p:cNvSpPr/>
          <p:nvPr/>
        </p:nvSpPr>
        <p:spPr>
          <a:xfrm>
            <a:off x="475488" y="1920240"/>
            <a:ext cx="3785616" cy="566928"/>
          </a:xfrm>
          <a:prstGeom prst="rect">
            <a:avLst/>
          </a:prstGeom>
          <a:solidFill>
            <a:srgbClr val="060E1C"/>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13" name="Text 9"/>
          <p:cNvSpPr/>
          <p:nvPr/>
        </p:nvSpPr>
        <p:spPr>
          <a:xfrm>
            <a:off x="603504" y="1975104"/>
            <a:ext cx="3529584" cy="219456"/>
          </a:xfrm>
          <a:prstGeom prst="rect">
            <a:avLst/>
          </a:prstGeom>
          <a:noFill/>
          <a:ln/>
        </p:spPr>
        <p:txBody>
          <a:bodyPr wrap="square" lIns="0" tIns="0" rIns="0" bIns="0"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Ring 3 limitation</a:t>
            </a:r>
            <a:endParaRPr lang="en-US" sz="1100" dirty="0"/>
          </a:p>
        </p:txBody>
      </p:sp>
      <p:sp>
        <p:nvSpPr>
          <p:cNvPr id="14" name="Text 10"/>
          <p:cNvSpPr/>
          <p:nvPr/>
        </p:nvSpPr>
        <p:spPr>
          <a:xfrm>
            <a:off x="603504" y="2212848"/>
            <a:ext cx="3529584" cy="219456"/>
          </a:xfrm>
          <a:prstGeom prst="rect">
            <a:avLst/>
          </a:prstGeom>
          <a:noFill/>
          <a:ln/>
        </p:spPr>
        <p:txBody>
          <a:bodyPr wrap="square" lIns="0" tIns="0" rIns="0" bIns="0" rtlCol="0" anchor="ctr"/>
          <a:lstStyle/>
          <a:p>
            <a:pPr marL="0" indent="0">
              <a:buNone/>
            </a:pPr>
            <a:r>
              <a:rPr lang="en-US" sz="950" dirty="0">
                <a:solidFill>
                  <a:srgbClr val="7A9DB8"/>
                </a:solidFill>
                <a:latin typeface="Calibri" pitchFamily="34" charset="0"/>
                <a:ea typeface="Calibri" pitchFamily="34" charset="-122"/>
                <a:cs typeface="Calibri" pitchFamily="34" charset="-120"/>
              </a:rPr>
              <a:t>Could not achieve full blind from user mode</a:t>
            </a:r>
            <a:endParaRPr lang="en-US" sz="950" dirty="0"/>
          </a:p>
        </p:txBody>
      </p:sp>
      <p:sp>
        <p:nvSpPr>
          <p:cNvPr id="15" name="Shape 11"/>
          <p:cNvSpPr/>
          <p:nvPr/>
        </p:nvSpPr>
        <p:spPr>
          <a:xfrm>
            <a:off x="475488" y="2578608"/>
            <a:ext cx="3785616" cy="566928"/>
          </a:xfrm>
          <a:prstGeom prst="rect">
            <a:avLst/>
          </a:prstGeom>
          <a:solidFill>
            <a:srgbClr val="060E1C"/>
          </a:solidFill>
          <a:ln w="12700">
            <a:solidFill>
              <a:srgbClr val="00D4FF"/>
            </a:solidFill>
            <a:prstDash val="solid"/>
          </a:ln>
          <a:effectLst>
            <a:outerShdw blurRad="203200" dist="50800" dir="8100000" algn="bl" rotWithShape="0">
              <a:srgbClr val="000000">
                <a:alpha val="45000"/>
              </a:srgbClr>
            </a:outerShdw>
          </a:effectLst>
        </p:spPr>
        <p:txBody>
          <a:bodyPr/>
          <a:lstStyle/>
          <a:p>
            <a:endParaRPr lang="en-US"/>
          </a:p>
        </p:txBody>
      </p:sp>
      <p:sp>
        <p:nvSpPr>
          <p:cNvPr id="16" name="Text 12"/>
          <p:cNvSpPr/>
          <p:nvPr/>
        </p:nvSpPr>
        <p:spPr>
          <a:xfrm>
            <a:off x="603504" y="2633472"/>
            <a:ext cx="3529584" cy="219456"/>
          </a:xfrm>
          <a:prstGeom prst="rect">
            <a:avLst/>
          </a:prstGeom>
          <a:noFill/>
          <a:ln/>
        </p:spPr>
        <p:txBody>
          <a:bodyPr wrap="square" lIns="0" tIns="0" rIns="0" bIns="0"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ETW integrity check</a:t>
            </a:r>
            <a:endParaRPr lang="en-US" sz="1100" dirty="0"/>
          </a:p>
        </p:txBody>
      </p:sp>
      <p:sp>
        <p:nvSpPr>
          <p:cNvPr id="17" name="Text 13"/>
          <p:cNvSpPr/>
          <p:nvPr/>
        </p:nvSpPr>
        <p:spPr>
          <a:xfrm>
            <a:off x="603504" y="2871216"/>
            <a:ext cx="3529584" cy="219456"/>
          </a:xfrm>
          <a:prstGeom prst="rect">
            <a:avLst/>
          </a:prstGeom>
          <a:noFill/>
          <a:ln/>
        </p:spPr>
        <p:txBody>
          <a:bodyPr wrap="square" lIns="0" tIns="0" rIns="0" bIns="0" rtlCol="0" anchor="ctr"/>
          <a:lstStyle/>
          <a:p>
            <a:pPr marL="0" indent="0">
              <a:buNone/>
            </a:pPr>
            <a:r>
              <a:rPr lang="en-US" sz="950" dirty="0">
                <a:solidFill>
                  <a:srgbClr val="7A9DB8"/>
                </a:solidFill>
                <a:latin typeface="Calibri" pitchFamily="34" charset="0"/>
                <a:ea typeface="Calibri" pitchFamily="34" charset="-122"/>
                <a:cs typeface="Calibri" pitchFamily="34" charset="-120"/>
              </a:rPr>
              <a:t>0x27 error — OS detected the tamper attempt</a:t>
            </a:r>
            <a:endParaRPr lang="en-US" sz="950" dirty="0"/>
          </a:p>
        </p:txBody>
      </p:sp>
      <p:sp>
        <p:nvSpPr>
          <p:cNvPr id="18" name="Shape 14"/>
          <p:cNvSpPr/>
          <p:nvPr/>
        </p:nvSpPr>
        <p:spPr>
          <a:xfrm>
            <a:off x="475488" y="3236976"/>
            <a:ext cx="3785616" cy="566928"/>
          </a:xfrm>
          <a:prstGeom prst="rect">
            <a:avLst/>
          </a:prstGeom>
          <a:solidFill>
            <a:srgbClr val="060E1C"/>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19" name="Text 15"/>
          <p:cNvSpPr/>
          <p:nvPr/>
        </p:nvSpPr>
        <p:spPr>
          <a:xfrm>
            <a:off x="603504" y="3291840"/>
            <a:ext cx="3529584" cy="219456"/>
          </a:xfrm>
          <a:prstGeom prst="rect">
            <a:avLst/>
          </a:prstGeom>
          <a:noFill/>
          <a:ln/>
        </p:spPr>
        <p:txBody>
          <a:bodyPr wrap="square" lIns="0" tIns="0" rIns="0" bIns="0"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Kernel sensor: 100%</a:t>
            </a:r>
            <a:endParaRPr lang="en-US" sz="1100" dirty="0"/>
          </a:p>
        </p:txBody>
      </p:sp>
      <p:sp>
        <p:nvSpPr>
          <p:cNvPr id="20" name="Text 16"/>
          <p:cNvSpPr/>
          <p:nvPr/>
        </p:nvSpPr>
        <p:spPr>
          <a:xfrm>
            <a:off x="603504" y="3529584"/>
            <a:ext cx="3529584" cy="219456"/>
          </a:xfrm>
          <a:prstGeom prst="rect">
            <a:avLst/>
          </a:prstGeom>
          <a:noFill/>
          <a:ln/>
        </p:spPr>
        <p:txBody>
          <a:bodyPr wrap="square" lIns="0" tIns="0" rIns="0" bIns="0" rtlCol="0" anchor="ctr"/>
          <a:lstStyle/>
          <a:p>
            <a:pPr marL="0" indent="0">
              <a:buNone/>
            </a:pPr>
            <a:r>
              <a:rPr lang="en-US" sz="950" dirty="0">
                <a:solidFill>
                  <a:srgbClr val="7A9DB8"/>
                </a:solidFill>
                <a:latin typeface="Calibri" pitchFamily="34" charset="0"/>
                <a:ea typeface="Calibri" pitchFamily="34" charset="-122"/>
                <a:cs typeface="Calibri" pitchFamily="34" charset="-120"/>
              </a:rPr>
              <a:t>PhantomGuard saw everything ETW missed</a:t>
            </a:r>
            <a:endParaRPr lang="en-US" sz="950" dirty="0"/>
          </a:p>
        </p:txBody>
      </p:sp>
      <p:sp>
        <p:nvSpPr>
          <p:cNvPr id="21" name="Shape 17"/>
          <p:cNvSpPr/>
          <p:nvPr/>
        </p:nvSpPr>
        <p:spPr>
          <a:xfrm>
            <a:off x="475488" y="3931920"/>
            <a:ext cx="3785616" cy="658368"/>
          </a:xfrm>
          <a:prstGeom prst="rect">
            <a:avLst/>
          </a:prstGeom>
          <a:solidFill>
            <a:srgbClr val="0E1E3A"/>
          </a:solidFill>
          <a:ln w="12700">
            <a:solidFill>
              <a:srgbClr val="00C896"/>
            </a:solidFill>
            <a:prstDash val="solid"/>
          </a:ln>
        </p:spPr>
        <p:txBody>
          <a:bodyPr/>
          <a:lstStyle/>
          <a:p>
            <a:endParaRPr lang="en-US"/>
          </a:p>
        </p:txBody>
      </p:sp>
      <p:sp>
        <p:nvSpPr>
          <p:cNvPr id="22" name="Text 18"/>
          <p:cNvSpPr/>
          <p:nvPr/>
        </p:nvSpPr>
        <p:spPr>
          <a:xfrm>
            <a:off x="594360" y="3931920"/>
            <a:ext cx="3566160" cy="658368"/>
          </a:xfrm>
          <a:prstGeom prst="rect">
            <a:avLst/>
          </a:prstGeom>
          <a:noFill/>
          <a:ln/>
        </p:spPr>
        <p:txBody>
          <a:bodyPr wrap="square" lIns="0" tIns="0" rIns="0" bIns="0" rtlCol="0" anchor="ctr"/>
          <a:lstStyle/>
          <a:p>
            <a:pPr marL="0" indent="0">
              <a:buNone/>
            </a:pPr>
            <a:r>
              <a:rPr lang="en-US" sz="1100" b="1" dirty="0">
                <a:solidFill>
                  <a:srgbClr val="00C896"/>
                </a:solidFill>
                <a:latin typeface="Trebuchet MS" pitchFamily="34" charset="0"/>
                <a:ea typeface="Trebuchet MS" pitchFamily="34" charset="-122"/>
                <a:cs typeface="Trebuchet MS" pitchFamily="34" charset="-120"/>
              </a:rPr>
              <a:t>12/12 tests passed  ·  0 false positives across 50 benign launches</a:t>
            </a:r>
            <a:endParaRPr lang="en-US" sz="1100" dirty="0"/>
          </a:p>
        </p:txBody>
      </p:sp>
      <p:sp>
        <p:nvSpPr>
          <p:cNvPr id="23" name="Shape 19"/>
          <p:cNvSpPr/>
          <p:nvPr/>
        </p:nvSpPr>
        <p:spPr>
          <a:xfrm>
            <a:off x="4572000" y="804672"/>
            <a:ext cx="4224528" cy="3858768"/>
          </a:xfrm>
          <a:prstGeom prst="rect">
            <a:avLst/>
          </a:prstGeom>
          <a:solidFill>
            <a:srgbClr val="060F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24" name="Shape 20"/>
          <p:cNvSpPr/>
          <p:nvPr/>
        </p:nvSpPr>
        <p:spPr>
          <a:xfrm>
            <a:off x="4572000" y="804672"/>
            <a:ext cx="4224528" cy="36576"/>
          </a:xfrm>
          <a:prstGeom prst="rect">
            <a:avLst/>
          </a:prstGeom>
          <a:solidFill>
            <a:srgbClr val="00C896"/>
          </a:solidFill>
          <a:ln w="12700">
            <a:solidFill>
              <a:srgbClr val="00C896"/>
            </a:solidFill>
            <a:prstDash val="solid"/>
          </a:ln>
        </p:spPr>
        <p:txBody>
          <a:bodyPr/>
          <a:lstStyle/>
          <a:p>
            <a:endParaRPr lang="en-US"/>
          </a:p>
        </p:txBody>
      </p:sp>
      <p:pic>
        <p:nvPicPr>
          <p:cNvPr id="25" name="Image 1" descr="preencoded.png"/>
          <p:cNvPicPr>
            <a:picLocks noChangeAspect="1"/>
          </p:cNvPicPr>
          <p:nvPr/>
        </p:nvPicPr>
        <p:blipFill>
          <a:blip r:embed="rId4"/>
          <a:stretch>
            <a:fillRect/>
          </a:stretch>
        </p:blipFill>
        <p:spPr>
          <a:xfrm>
            <a:off x="4709160" y="877824"/>
            <a:ext cx="292608" cy="292608"/>
          </a:xfrm>
          <a:prstGeom prst="rect">
            <a:avLst/>
          </a:prstGeom>
        </p:spPr>
      </p:pic>
      <p:sp>
        <p:nvSpPr>
          <p:cNvPr id="26" name="Text 21"/>
          <p:cNvSpPr/>
          <p:nvPr/>
        </p:nvSpPr>
        <p:spPr>
          <a:xfrm>
            <a:off x="5047488" y="877824"/>
            <a:ext cx="3602736" cy="274320"/>
          </a:xfrm>
          <a:prstGeom prst="rect">
            <a:avLst/>
          </a:prstGeom>
          <a:noFill/>
          <a:ln/>
        </p:spPr>
        <p:txBody>
          <a:bodyPr wrap="square" lIns="0" tIns="0" rIns="0" bIns="0" rtlCol="0" anchor="ctr"/>
          <a:lstStyle/>
          <a:p>
            <a:pPr marL="0" indent="0">
              <a:buNone/>
            </a:pPr>
            <a:r>
              <a:rPr lang="en-US" sz="1250" b="1" dirty="0">
                <a:solidFill>
                  <a:srgbClr val="00C896"/>
                </a:solidFill>
                <a:latin typeface="Trebuchet MS" pitchFamily="34" charset="0"/>
                <a:ea typeface="Trebuchet MS" pitchFamily="34" charset="-122"/>
                <a:cs typeface="Trebuchet MS" pitchFamily="34" charset="-120"/>
              </a:rPr>
              <a:t>Linux — Total Blind</a:t>
            </a:r>
            <a:endParaRPr lang="en-US" sz="1250" dirty="0"/>
          </a:p>
        </p:txBody>
      </p:sp>
      <p:sp>
        <p:nvSpPr>
          <p:cNvPr id="27" name="Shape 22"/>
          <p:cNvSpPr/>
          <p:nvPr/>
        </p:nvSpPr>
        <p:spPr>
          <a:xfrm>
            <a:off x="4681728" y="1234440"/>
            <a:ext cx="3986784" cy="548640"/>
          </a:xfrm>
          <a:prstGeom prst="rect">
            <a:avLst/>
          </a:prstGeom>
          <a:solidFill>
            <a:srgbClr val="1A0808"/>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28" name="Text 23"/>
          <p:cNvSpPr/>
          <p:nvPr/>
        </p:nvSpPr>
        <p:spPr>
          <a:xfrm>
            <a:off x="4809744" y="1271016"/>
            <a:ext cx="3657600" cy="201168"/>
          </a:xfrm>
          <a:prstGeom prst="rect">
            <a:avLst/>
          </a:prstGeom>
          <a:noFill/>
          <a:ln/>
        </p:spPr>
        <p:txBody>
          <a:bodyPr wrap="square" lIns="0" tIns="0" rIns="0" bIns="0" rtlCol="0" anchor="ctr"/>
          <a:lstStyle/>
          <a:p>
            <a:pPr marL="0" indent="0">
              <a:buNone/>
            </a:pPr>
            <a:r>
              <a:rPr lang="en-US" sz="1100" b="1" dirty="0">
                <a:solidFill>
                  <a:srgbClr val="FF6B35"/>
                </a:solidFill>
                <a:latin typeface="Consolas" pitchFamily="34" charset="0"/>
                <a:ea typeface="Consolas" pitchFamily="34" charset="-122"/>
                <a:cs typeface="Consolas" pitchFamily="34" charset="-120"/>
              </a:rPr>
              <a:t>auditctl -e 0  → Total silence</a:t>
            </a:r>
            <a:endParaRPr lang="en-US" sz="1100" dirty="0"/>
          </a:p>
        </p:txBody>
      </p:sp>
      <p:sp>
        <p:nvSpPr>
          <p:cNvPr id="29" name="Text 24"/>
          <p:cNvSpPr/>
          <p:nvPr/>
        </p:nvSpPr>
        <p:spPr>
          <a:xfrm>
            <a:off x="4809744" y="1472184"/>
            <a:ext cx="3657600" cy="256032"/>
          </a:xfrm>
          <a:prstGeom prst="rect">
            <a:avLst/>
          </a:prstGeom>
          <a:noFill/>
          <a:ln/>
        </p:spPr>
        <p:txBody>
          <a:bodyPr wrap="square" lIns="0" tIns="0" rIns="0" bIns="0" rtlCol="0" anchor="ctr"/>
          <a:lstStyle/>
          <a:p>
            <a:pPr marL="0" indent="0">
              <a:buNone/>
            </a:pPr>
            <a:r>
              <a:rPr lang="en-US" sz="950" dirty="0">
                <a:solidFill>
                  <a:srgbClr val="B8D4E8"/>
                </a:solidFill>
                <a:latin typeface="Calibri" pitchFamily="34" charset="0"/>
                <a:ea typeface="Calibri" pitchFamily="34" charset="-122"/>
                <a:cs typeface="Calibri" pitchFamily="34" charset="-120"/>
              </a:rPr>
              <a:t>Not 1.13%. Every audit record stopped instantly, system-wide</a:t>
            </a:r>
            <a:endParaRPr lang="en-US" sz="950" dirty="0"/>
          </a:p>
        </p:txBody>
      </p:sp>
      <p:pic>
        <p:nvPicPr>
          <p:cNvPr id="30" name="Image 2" descr="preencoded.png"/>
          <p:cNvPicPr>
            <a:picLocks noChangeAspect="1"/>
          </p:cNvPicPr>
          <p:nvPr/>
        </p:nvPicPr>
        <p:blipFill>
          <a:blip r:embed="rId5"/>
          <a:stretch>
            <a:fillRect/>
          </a:stretch>
        </p:blipFill>
        <p:spPr>
          <a:xfrm>
            <a:off x="4681728" y="1865376"/>
            <a:ext cx="3986784" cy="1444752"/>
          </a:xfrm>
          <a:prstGeom prst="rect">
            <a:avLst/>
          </a:prstGeom>
          <a:effectLst>
            <a:outerShdw blurRad="127000" dist="38100" dir="8100000" algn="bl" rotWithShape="0">
              <a:srgbClr val="000000">
                <a:alpha val="35000"/>
              </a:srgbClr>
            </a:outerShdw>
          </a:effectLst>
        </p:spPr>
      </p:pic>
      <p:sp>
        <p:nvSpPr>
          <p:cNvPr id="31" name="Shape 25"/>
          <p:cNvSpPr/>
          <p:nvPr/>
        </p:nvSpPr>
        <p:spPr>
          <a:xfrm>
            <a:off x="4681728" y="1865376"/>
            <a:ext cx="3986784" cy="1444752"/>
          </a:xfrm>
          <a:prstGeom prst="rect">
            <a:avLst/>
          </a:prstGeom>
          <a:solidFill>
            <a:srgbClr val="FFFFFF">
              <a:alpha val="0"/>
            </a:srgbClr>
          </a:solidFill>
          <a:ln w="12700">
            <a:solidFill>
              <a:srgbClr val="00C896"/>
            </a:solidFill>
            <a:prstDash val="solid"/>
          </a:ln>
        </p:spPr>
        <p:txBody>
          <a:bodyPr/>
          <a:lstStyle/>
          <a:p>
            <a:endParaRPr lang="en-US"/>
          </a:p>
        </p:txBody>
      </p:sp>
      <p:sp>
        <p:nvSpPr>
          <p:cNvPr id="32" name="Text 26"/>
          <p:cNvSpPr/>
          <p:nvPr/>
        </p:nvSpPr>
        <p:spPr>
          <a:xfrm>
            <a:off x="4681728" y="3310128"/>
            <a:ext cx="3986784" cy="182880"/>
          </a:xfrm>
          <a:prstGeom prst="rect">
            <a:avLst/>
          </a:prstGeom>
          <a:noFill/>
          <a:ln/>
        </p:spPr>
        <p:txBody>
          <a:bodyPr wrap="square" lIns="0" tIns="0" rIns="0" bIns="0" rtlCol="0" anchor="ctr"/>
          <a:lstStyle/>
          <a:p>
            <a:pPr marL="0" indent="0" algn="ctr">
              <a:buNone/>
            </a:pPr>
            <a:r>
              <a:rPr lang="en-US" sz="750" i="1" dirty="0">
                <a:solidFill>
                  <a:srgbClr val="7A9DB8"/>
                </a:solidFill>
                <a:latin typeface="Calibri" pitchFamily="34" charset="0"/>
                <a:ea typeface="Calibri" pitchFamily="34" charset="-122"/>
                <a:cs typeface="Calibri" pitchFamily="34" charset="-120"/>
              </a:rPr>
              <a:t>phantom_guard.bt — eBPF output  ·  May 5, 2026</a:t>
            </a:r>
            <a:endParaRPr lang="en-US" sz="750" dirty="0"/>
          </a:p>
        </p:txBody>
      </p:sp>
      <p:sp>
        <p:nvSpPr>
          <p:cNvPr id="33" name="Shape 27"/>
          <p:cNvSpPr/>
          <p:nvPr/>
        </p:nvSpPr>
        <p:spPr>
          <a:xfrm>
            <a:off x="4681728" y="3547872"/>
            <a:ext cx="3986784" cy="475488"/>
          </a:xfrm>
          <a:prstGeom prst="rect">
            <a:avLst/>
          </a:prstGeom>
          <a:solidFill>
            <a:srgbClr val="040F0A"/>
          </a:solidFill>
          <a:ln w="12700">
            <a:solidFill>
              <a:srgbClr val="00C896"/>
            </a:solidFill>
            <a:prstDash val="solid"/>
          </a:ln>
          <a:effectLst>
            <a:outerShdw blurRad="203200" dist="50800" dir="8100000" algn="bl" rotWithShape="0">
              <a:srgbClr val="000000">
                <a:alpha val="45000"/>
              </a:srgbClr>
            </a:outerShdw>
          </a:effectLst>
        </p:spPr>
        <p:txBody>
          <a:bodyPr/>
          <a:lstStyle/>
          <a:p>
            <a:endParaRPr lang="en-US"/>
          </a:p>
        </p:txBody>
      </p:sp>
      <p:sp>
        <p:nvSpPr>
          <p:cNvPr id="34" name="Text 28"/>
          <p:cNvSpPr/>
          <p:nvPr/>
        </p:nvSpPr>
        <p:spPr>
          <a:xfrm>
            <a:off x="4773168" y="3547872"/>
            <a:ext cx="3803904" cy="475488"/>
          </a:xfrm>
          <a:prstGeom prst="rect">
            <a:avLst/>
          </a:prstGeom>
          <a:noFill/>
          <a:ln/>
        </p:spPr>
        <p:txBody>
          <a:bodyPr wrap="square" lIns="0" tIns="0" rIns="0" bIns="0" rtlCol="0" anchor="ctr"/>
          <a:lstStyle/>
          <a:p>
            <a:pPr marL="0" indent="0">
              <a:buNone/>
            </a:pPr>
            <a:r>
              <a:rPr lang="en-US" sz="950" b="1" dirty="0">
                <a:solidFill>
                  <a:srgbClr val="00C896"/>
                </a:solidFill>
                <a:latin typeface="Consolas" pitchFamily="34" charset="0"/>
                <a:ea typeface="Consolas" pitchFamily="34" charset="-122"/>
                <a:cs typeface="Consolas" pitchFamily="34" charset="-120"/>
              </a:rPr>
              <a:t>Blind spot: 12:56:14  →  12:58:52  =  2 min 38 sec</a:t>
            </a:r>
            <a:endParaRPr lang="en-US" sz="950" dirty="0"/>
          </a:p>
        </p:txBody>
      </p:sp>
      <p:sp>
        <p:nvSpPr>
          <p:cNvPr id="35" name="Shape 29"/>
          <p:cNvSpPr/>
          <p:nvPr/>
        </p:nvSpPr>
        <p:spPr>
          <a:xfrm>
            <a:off x="4681728" y="4096512"/>
            <a:ext cx="3986784" cy="493776"/>
          </a:xfrm>
          <a:prstGeom prst="rect">
            <a:avLst/>
          </a:prstGeom>
          <a:solidFill>
            <a:srgbClr val="00C896"/>
          </a:solidFill>
          <a:ln w="12700">
            <a:solidFill>
              <a:srgbClr val="00C896"/>
            </a:solidFill>
            <a:prstDash val="solid"/>
          </a:ln>
        </p:spPr>
        <p:txBody>
          <a:bodyPr/>
          <a:lstStyle/>
          <a:p>
            <a:endParaRPr lang="en-US"/>
          </a:p>
        </p:txBody>
      </p:sp>
      <p:sp>
        <p:nvSpPr>
          <p:cNvPr id="36" name="Text 30"/>
          <p:cNvSpPr/>
          <p:nvPr/>
        </p:nvSpPr>
        <p:spPr>
          <a:xfrm>
            <a:off x="4681728" y="4096512"/>
            <a:ext cx="3986784" cy="493776"/>
          </a:xfrm>
          <a:prstGeom prst="rect">
            <a:avLst/>
          </a:prstGeom>
          <a:noFill/>
          <a:ln/>
        </p:spPr>
        <p:txBody>
          <a:bodyPr wrap="square" lIns="0" tIns="0" rIns="0" bIns="0" rtlCol="0" anchor="ctr"/>
          <a:lstStyle/>
          <a:p>
            <a:pPr marL="0" indent="0" algn="ctr">
              <a:buNone/>
            </a:pPr>
            <a:r>
              <a:rPr lang="en-US" sz="1000" b="1" dirty="0">
                <a:solidFill>
                  <a:srgbClr val="04091A"/>
                </a:solidFill>
                <a:latin typeface="Trebuchet MS" pitchFamily="34" charset="0"/>
                <a:ea typeface="Trebuchet MS" pitchFamily="34" charset="-122"/>
                <a:cs typeface="Trebuchet MS" pitchFamily="34" charset="-120"/>
              </a:rPr>
              <a:t>eBPF: 100% CAPTURE THROUGH ENTIRE BLIND SPOT</a:t>
            </a:r>
            <a:endParaRPr lang="en-US" sz="1000" dirty="0"/>
          </a:p>
        </p:txBody>
      </p:sp>
      <p:sp>
        <p:nvSpPr>
          <p:cNvPr id="37" name="Text 31"/>
          <p:cNvSpPr/>
          <p:nvPr/>
        </p:nvSpPr>
        <p:spPr>
          <a:xfrm>
            <a:off x="365760" y="4663440"/>
            <a:ext cx="8412480" cy="256032"/>
          </a:xfrm>
          <a:prstGeom prst="rect">
            <a:avLst/>
          </a:prstGeom>
          <a:noFill/>
          <a:ln/>
        </p:spPr>
        <p:txBody>
          <a:bodyPr wrap="square" lIns="0" tIns="0" rIns="0" bIns="0" rtlCol="0" anchor="ctr"/>
          <a:lstStyle/>
          <a:p>
            <a:pPr marL="0" indent="0" algn="ctr">
              <a:buNone/>
            </a:pPr>
            <a:r>
              <a:rPr lang="en-US" sz="1000" i="1" dirty="0">
                <a:solidFill>
                  <a:srgbClr val="7A9DB8"/>
                </a:solidFill>
                <a:latin typeface="Calibri" pitchFamily="34" charset="0"/>
                <a:ea typeface="Calibri" pitchFamily="34" charset="-122"/>
                <a:cs typeface="Calibri" pitchFamily="34" charset="-120"/>
              </a:rPr>
              <a:t>Different OS. Different kernel. Same architectural result: the independent kernel sensor saw everything the primary stream missed.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4091A"/>
        </a:solidFill>
        <a:effectLst/>
      </p:bgPr>
    </p:bg>
    <p:spTree>
      <p:nvGrpSpPr>
        <p:cNvPr id="1" name=""/>
        <p:cNvGrpSpPr/>
        <p:nvPr/>
      </p:nvGrpSpPr>
      <p:grpSpPr>
        <a:xfrm>
          <a:off x="0" y="0"/>
          <a:ext cx="0" cy="0"/>
          <a:chOff x="0" y="0"/>
          <a:chExt cx="0" cy="0"/>
        </a:xfrm>
      </p:grpSpPr>
      <p:sp>
        <p:nvSpPr>
          <p:cNvPr id="3" name="Shape 0"/>
          <p:cNvSpPr/>
          <p:nvPr/>
        </p:nvSpPr>
        <p:spPr>
          <a:xfrm>
            <a:off x="365760" y="201168"/>
            <a:ext cx="45720" cy="475488"/>
          </a:xfrm>
          <a:prstGeom prst="rect">
            <a:avLst/>
          </a:prstGeom>
          <a:solidFill>
            <a:srgbClr val="7A9DB8"/>
          </a:solidFill>
          <a:ln w="12700">
            <a:solidFill>
              <a:srgbClr val="7A9DB8"/>
            </a:solidFill>
            <a:prstDash val="solid"/>
          </a:ln>
        </p:spPr>
        <p:txBody>
          <a:bodyPr/>
          <a:lstStyle/>
          <a:p>
            <a:endParaRPr lang="en-US"/>
          </a:p>
        </p:txBody>
      </p:sp>
      <p:sp>
        <p:nvSpPr>
          <p:cNvPr id="4" name="Text 1"/>
          <p:cNvSpPr/>
          <p:nvPr/>
        </p:nvSpPr>
        <p:spPr>
          <a:xfrm>
            <a:off x="530352" y="201168"/>
            <a:ext cx="8321040" cy="475488"/>
          </a:xfrm>
          <a:prstGeom prst="rect">
            <a:avLst/>
          </a:prstGeom>
          <a:noFill/>
          <a:ln/>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What I Couldn't Do - and Future Work</a:t>
            </a:r>
            <a:endParaRPr lang="en-US" sz="2100" dirty="0"/>
          </a:p>
        </p:txBody>
      </p:sp>
      <p:sp>
        <p:nvSpPr>
          <p:cNvPr id="5" name="Shape 2"/>
          <p:cNvSpPr/>
          <p:nvPr/>
        </p:nvSpPr>
        <p:spPr>
          <a:xfrm>
            <a:off x="365760" y="804672"/>
            <a:ext cx="3950208" cy="4041648"/>
          </a:xfrm>
          <a:prstGeom prst="rect">
            <a:avLst/>
          </a:prstGeom>
          <a:solidFill>
            <a:srgbClr val="0A1628"/>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6" name="Shape 3"/>
          <p:cNvSpPr/>
          <p:nvPr/>
        </p:nvSpPr>
        <p:spPr>
          <a:xfrm>
            <a:off x="365760" y="804672"/>
            <a:ext cx="3950208" cy="36576"/>
          </a:xfrm>
          <a:prstGeom prst="rect">
            <a:avLst/>
          </a:prstGeom>
          <a:solidFill>
            <a:srgbClr val="FF6B35"/>
          </a:solidFill>
          <a:ln w="12700">
            <a:solidFill>
              <a:srgbClr val="FF6B35"/>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02920" y="877824"/>
            <a:ext cx="310896" cy="310896"/>
          </a:xfrm>
          <a:prstGeom prst="rect">
            <a:avLst/>
          </a:prstGeom>
        </p:spPr>
      </p:pic>
      <p:sp>
        <p:nvSpPr>
          <p:cNvPr id="8" name="Text 4"/>
          <p:cNvSpPr/>
          <p:nvPr/>
        </p:nvSpPr>
        <p:spPr>
          <a:xfrm>
            <a:off x="868680" y="877824"/>
            <a:ext cx="3310128" cy="274320"/>
          </a:xfrm>
          <a:prstGeom prst="rect">
            <a:avLst/>
          </a:prstGeom>
          <a:noFill/>
          <a:ln/>
        </p:spPr>
        <p:txBody>
          <a:bodyPr wrap="square" lIns="0" tIns="0" rIns="0" bIns="0" rtlCol="0" anchor="ctr"/>
          <a:lstStyle/>
          <a:p>
            <a:pPr marL="0" indent="0">
              <a:buNone/>
            </a:pPr>
            <a:r>
              <a:rPr lang="en-US" sz="1200" b="1" dirty="0">
                <a:solidFill>
                  <a:srgbClr val="FF6B35"/>
                </a:solidFill>
                <a:latin typeface="Trebuchet MS" pitchFamily="34" charset="0"/>
                <a:ea typeface="Trebuchet MS" pitchFamily="34" charset="-122"/>
                <a:cs typeface="Trebuchet MS" pitchFamily="34" charset="-120"/>
              </a:rPr>
              <a:t>The Honest Result — Windows</a:t>
            </a:r>
            <a:endParaRPr lang="en-US" sz="1200" dirty="0"/>
          </a:p>
        </p:txBody>
      </p:sp>
      <p:sp>
        <p:nvSpPr>
          <p:cNvPr id="9" name="Shape 5"/>
          <p:cNvSpPr/>
          <p:nvPr/>
        </p:nvSpPr>
        <p:spPr>
          <a:xfrm>
            <a:off x="475488" y="1261872"/>
            <a:ext cx="3712464" cy="749808"/>
          </a:xfrm>
          <a:prstGeom prst="rect">
            <a:avLst/>
          </a:prstGeom>
          <a:solidFill>
            <a:srgbClr val="120808"/>
          </a:solidFill>
          <a:ln w="12700">
            <a:solidFill>
              <a:srgbClr val="E8365D"/>
            </a:solidFill>
            <a:prstDash val="solid"/>
          </a:ln>
          <a:effectLst>
            <a:outerShdw blurRad="203200" dist="50800" dir="8100000" algn="bl" rotWithShape="0">
              <a:srgbClr val="000000">
                <a:alpha val="45000"/>
              </a:srgbClr>
            </a:outerShdw>
          </a:effectLst>
        </p:spPr>
        <p:txBody>
          <a:bodyPr/>
          <a:lstStyle/>
          <a:p>
            <a:endParaRPr lang="en-US"/>
          </a:p>
        </p:txBody>
      </p:sp>
      <p:sp>
        <p:nvSpPr>
          <p:cNvPr id="10" name="Text 6"/>
          <p:cNvSpPr/>
          <p:nvPr/>
        </p:nvSpPr>
        <p:spPr>
          <a:xfrm>
            <a:off x="603504" y="1298448"/>
            <a:ext cx="3474720" cy="219456"/>
          </a:xfrm>
          <a:prstGeom prst="rect">
            <a:avLst/>
          </a:prstGeom>
          <a:noFill/>
          <a:ln/>
        </p:spPr>
        <p:txBody>
          <a:bodyPr wrap="square" lIns="0" tIns="0" rIns="0" bIns="0" rtlCol="0" anchor="ctr"/>
          <a:lstStyle/>
          <a:p>
            <a:pPr marL="0" indent="0">
              <a:buNone/>
            </a:pPr>
            <a:r>
              <a:rPr lang="en-US" sz="1100" b="1" dirty="0">
                <a:solidFill>
                  <a:srgbClr val="E8365D"/>
                </a:solidFill>
                <a:latin typeface="Trebuchet MS" pitchFamily="34" charset="0"/>
                <a:ea typeface="Trebuchet MS" pitchFamily="34" charset="-122"/>
                <a:cs typeface="Trebuchet MS" pitchFamily="34" charset="-120"/>
              </a:rPr>
              <a:t>Could not achieve full blind from Ring 3</a:t>
            </a:r>
            <a:endParaRPr lang="en-US" sz="1100" dirty="0"/>
          </a:p>
        </p:txBody>
      </p:sp>
      <p:sp>
        <p:nvSpPr>
          <p:cNvPr id="11" name="Text 7"/>
          <p:cNvSpPr/>
          <p:nvPr/>
        </p:nvSpPr>
        <p:spPr>
          <a:xfrm>
            <a:off x="603504" y="1536192"/>
            <a:ext cx="3474720" cy="420624"/>
          </a:xfrm>
          <a:prstGeom prst="rect">
            <a:avLst/>
          </a:prstGeom>
          <a:noFill/>
          <a:ln/>
        </p:spPr>
        <p:txBody>
          <a:bodyPr wrap="square" lIns="0" tIns="0" rIns="0" bIns="0" rtlCol="0" anchor="ctr"/>
          <a:lstStyle/>
          <a:p>
            <a:pPr marL="0" indent="0">
              <a:buNone/>
            </a:pPr>
            <a:r>
              <a:rPr lang="en-US" sz="1100" dirty="0">
                <a:solidFill>
                  <a:srgbClr val="B8D4E8"/>
                </a:solidFill>
                <a:latin typeface="Calibri" pitchFamily="34" charset="0"/>
                <a:ea typeface="Calibri" pitchFamily="34" charset="-122"/>
                <a:cs typeface="Calibri" pitchFamily="34" charset="-120"/>
              </a:rPr>
              <a:t>1.13% gap — not 100%. The Ring 3 / Ring 0 boundary held.</a:t>
            </a:r>
            <a:endParaRPr lang="en-US" sz="1100" dirty="0"/>
          </a:p>
        </p:txBody>
      </p:sp>
      <p:sp>
        <p:nvSpPr>
          <p:cNvPr id="12" name="Shape 8"/>
          <p:cNvSpPr/>
          <p:nvPr/>
        </p:nvSpPr>
        <p:spPr>
          <a:xfrm>
            <a:off x="475488" y="2103120"/>
            <a:ext cx="3712464" cy="1188720"/>
          </a:xfrm>
          <a:prstGeom prst="rect">
            <a:avLst/>
          </a:prstGeom>
          <a:solidFill>
            <a:srgbClr val="060E1C"/>
          </a:solidFill>
          <a:ln w="12700">
            <a:solidFill>
              <a:srgbClr val="FF6B35"/>
            </a:solidFill>
            <a:prstDash val="solid"/>
          </a:ln>
          <a:effectLst>
            <a:outerShdw blurRad="203200" dist="50800" dir="8100000" algn="bl" rotWithShape="0">
              <a:srgbClr val="000000">
                <a:alpha val="45000"/>
              </a:srgbClr>
            </a:outerShdw>
          </a:effectLst>
        </p:spPr>
        <p:txBody>
          <a:bodyPr/>
          <a:lstStyle/>
          <a:p>
            <a:endParaRPr lang="en-US"/>
          </a:p>
        </p:txBody>
      </p:sp>
      <p:sp>
        <p:nvSpPr>
          <p:cNvPr id="13" name="Text 9"/>
          <p:cNvSpPr/>
          <p:nvPr/>
        </p:nvSpPr>
        <p:spPr>
          <a:xfrm>
            <a:off x="603504" y="2139696"/>
            <a:ext cx="3474720" cy="219456"/>
          </a:xfrm>
          <a:prstGeom prst="rect">
            <a:avLst/>
          </a:prstGeom>
          <a:noFill/>
          <a:ln/>
        </p:spPr>
        <p:txBody>
          <a:bodyPr wrap="square" lIns="0" tIns="0" rIns="0" bIns="0"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What a full blind requires</a:t>
            </a:r>
            <a:endParaRPr lang="en-US" sz="1100" dirty="0"/>
          </a:p>
        </p:txBody>
      </p:sp>
      <p:sp>
        <p:nvSpPr>
          <p:cNvPr id="14" name="Text 10"/>
          <p:cNvSpPr/>
          <p:nvPr/>
        </p:nvSpPr>
        <p:spPr>
          <a:xfrm>
            <a:off x="603504" y="2377440"/>
            <a:ext cx="3474720" cy="786384"/>
          </a:xfrm>
          <a:prstGeom prst="rect">
            <a:avLst/>
          </a:prstGeom>
          <a:noFill/>
          <a:ln/>
        </p:spPr>
        <p:txBody>
          <a:bodyPr wrap="square" lIns="0" tIns="0" rIns="0" bIns="0" rtlCol="0" anchor="ctr"/>
          <a:lstStyle/>
          <a:p>
            <a:pPr marL="0" indent="0">
              <a:buNone/>
            </a:pPr>
            <a:r>
              <a:rPr lang="en-US" sz="1100" dirty="0">
                <a:solidFill>
                  <a:srgbClr val="B8D4E8"/>
                </a:solidFill>
                <a:latin typeface="Calibri" pitchFamily="34" charset="0"/>
                <a:ea typeface="Calibri" pitchFamily="34" charset="-122"/>
                <a:cs typeface="Calibri" pitchFamily="34" charset="-120"/>
              </a:rPr>
              <a:t>Signed kernel driver with Ring 0 access</a:t>
            </a:r>
            <a:endParaRPr lang="en-US" sz="1100" dirty="0"/>
          </a:p>
          <a:p>
            <a:pPr marL="0" indent="0">
              <a:buNone/>
            </a:pPr>
            <a:r>
              <a:rPr lang="en-US" sz="1100" dirty="0">
                <a:solidFill>
                  <a:srgbClr val="B8D4E8"/>
                </a:solidFill>
                <a:latin typeface="Calibri" pitchFamily="34" charset="0"/>
                <a:ea typeface="Calibri" pitchFamily="34" charset="-122"/>
                <a:cs typeface="Calibri" pitchFamily="34" charset="-120"/>
              </a:rPr>
              <a:t>Microsoft EV code signing authorization</a:t>
            </a:r>
            <a:endParaRPr lang="en-US" sz="1100" dirty="0"/>
          </a:p>
          <a:p>
            <a:pPr marL="0" indent="0">
              <a:buNone/>
            </a:pPr>
            <a:r>
              <a:rPr lang="en-US" sz="1100" dirty="0">
                <a:solidFill>
                  <a:srgbClr val="B8D4E8"/>
                </a:solidFill>
                <a:latin typeface="Calibri" pitchFamily="34" charset="0"/>
                <a:ea typeface="Calibri" pitchFamily="34" charset="-122"/>
                <a:cs typeface="Calibri" pitchFamily="34" charset="-120"/>
              </a:rPr>
              <a:t>ETW internal dispatch table manipulation</a:t>
            </a:r>
            <a:endParaRPr lang="en-US" sz="1100" dirty="0"/>
          </a:p>
          <a:p>
            <a:pPr marL="0" indent="0">
              <a:buNone/>
            </a:pPr>
            <a:r>
              <a:rPr lang="en-US" sz="1100" dirty="0">
                <a:solidFill>
                  <a:srgbClr val="B8D4E8"/>
                </a:solidFill>
                <a:latin typeface="Calibri" pitchFamily="34" charset="0"/>
                <a:ea typeface="Calibri" pitchFamily="34" charset="-122"/>
                <a:cs typeface="Calibri" pitchFamily="34" charset="-120"/>
              </a:rPr>
              <a:t>→ Exactly what Lazarus Group has. I don't.</a:t>
            </a:r>
            <a:endParaRPr lang="en-US" sz="1100" dirty="0"/>
          </a:p>
        </p:txBody>
      </p:sp>
      <p:grpSp>
        <p:nvGrpSpPr>
          <p:cNvPr id="35" name="Group 34">
            <a:extLst>
              <a:ext uri="{FF2B5EF4-FFF2-40B4-BE49-F238E27FC236}">
                <a16:creationId xmlns:a16="http://schemas.microsoft.com/office/drawing/2014/main" id="{FAD547B9-ABFF-9721-0F4D-D8A88D7B62CA}"/>
              </a:ext>
            </a:extLst>
          </p:cNvPr>
          <p:cNvGrpSpPr/>
          <p:nvPr/>
        </p:nvGrpSpPr>
        <p:grpSpPr>
          <a:xfrm>
            <a:off x="475488" y="3483811"/>
            <a:ext cx="3712464" cy="749808"/>
            <a:chOff x="475488" y="3017520"/>
            <a:chExt cx="3712464" cy="749808"/>
          </a:xfrm>
        </p:grpSpPr>
        <p:sp>
          <p:nvSpPr>
            <p:cNvPr id="15" name="Shape 11"/>
            <p:cNvSpPr/>
            <p:nvPr/>
          </p:nvSpPr>
          <p:spPr>
            <a:xfrm>
              <a:off x="475488" y="3017520"/>
              <a:ext cx="3712464" cy="749808"/>
            </a:xfrm>
            <a:prstGeom prst="rect">
              <a:avLst/>
            </a:prstGeom>
            <a:solidFill>
              <a:srgbClr val="040E08"/>
            </a:solidFill>
            <a:ln w="12700">
              <a:solidFill>
                <a:srgbClr val="00D4FF"/>
              </a:solidFill>
              <a:prstDash val="solid"/>
            </a:ln>
            <a:effectLst>
              <a:outerShdw blurRad="203200" dist="50800" dir="8100000" algn="bl" rotWithShape="0">
                <a:srgbClr val="000000">
                  <a:alpha val="45000"/>
                </a:srgbClr>
              </a:outerShdw>
            </a:effectLst>
          </p:spPr>
          <p:txBody>
            <a:bodyPr/>
            <a:lstStyle/>
            <a:p>
              <a:endParaRPr lang="en-US"/>
            </a:p>
          </p:txBody>
        </p:sp>
        <p:grpSp>
          <p:nvGrpSpPr>
            <p:cNvPr id="2" name="Group 1">
              <a:extLst>
                <a:ext uri="{FF2B5EF4-FFF2-40B4-BE49-F238E27FC236}">
                  <a16:creationId xmlns:a16="http://schemas.microsoft.com/office/drawing/2014/main" id="{A337FF32-A28B-E0C2-F8F2-72642513529D}"/>
                </a:ext>
              </a:extLst>
            </p:cNvPr>
            <p:cNvGrpSpPr/>
            <p:nvPr/>
          </p:nvGrpSpPr>
          <p:grpSpPr>
            <a:xfrm>
              <a:off x="603504" y="3054096"/>
              <a:ext cx="3474720" cy="658368"/>
              <a:chOff x="603504" y="3054096"/>
              <a:chExt cx="3474720" cy="658368"/>
            </a:xfrm>
          </p:grpSpPr>
          <p:sp>
            <p:nvSpPr>
              <p:cNvPr id="17" name="Text 13"/>
              <p:cNvSpPr/>
              <p:nvPr/>
            </p:nvSpPr>
            <p:spPr>
              <a:xfrm>
                <a:off x="603504" y="3054096"/>
                <a:ext cx="3474720" cy="219456"/>
              </a:xfrm>
              <a:prstGeom prst="rect">
                <a:avLst/>
              </a:prstGeom>
              <a:noFill/>
              <a:ln/>
            </p:spPr>
            <p:txBody>
              <a:bodyPr wrap="square" lIns="0" tIns="0" rIns="0" bIns="0" rtlCol="0" anchor="ctr"/>
              <a:lstStyle/>
              <a:p>
                <a:pPr marL="0" indent="0">
                  <a:buNone/>
                </a:pPr>
                <a:r>
                  <a:rPr lang="en-US" sz="1100" b="1" dirty="0">
                    <a:solidFill>
                      <a:srgbClr val="00D4FF"/>
                    </a:solidFill>
                    <a:latin typeface="Trebuchet MS" pitchFamily="34" charset="0"/>
                    <a:ea typeface="Trebuchet MS" pitchFamily="34" charset="-122"/>
                    <a:cs typeface="Trebuchet MS" pitchFamily="34" charset="-120"/>
                  </a:rPr>
                  <a:t>The gap between 1.13% and 100%</a:t>
                </a:r>
                <a:endParaRPr lang="en-US" sz="1100" dirty="0"/>
              </a:p>
            </p:txBody>
          </p:sp>
          <p:sp>
            <p:nvSpPr>
              <p:cNvPr id="18" name="Text 14"/>
              <p:cNvSpPr/>
              <p:nvPr/>
            </p:nvSpPr>
            <p:spPr>
              <a:xfrm>
                <a:off x="603504" y="3291840"/>
                <a:ext cx="3474720" cy="420624"/>
              </a:xfrm>
              <a:prstGeom prst="rect">
                <a:avLst/>
              </a:prstGeom>
              <a:noFill/>
              <a:ln/>
            </p:spPr>
            <p:txBody>
              <a:bodyPr wrap="square" lIns="0" tIns="0" rIns="0" bIns="0" rtlCol="0" anchor="ctr"/>
              <a:lstStyle/>
              <a:p>
                <a:pPr marL="0" indent="0">
                  <a:buNone/>
                </a:pPr>
                <a:r>
                  <a:rPr lang="en-US" sz="1100" i="1" dirty="0">
                    <a:solidFill>
                      <a:srgbClr val="B8D4E8"/>
                    </a:solidFill>
                    <a:latin typeface="Calibri" pitchFamily="34" charset="0"/>
                    <a:ea typeface="Calibri" pitchFamily="34" charset="-122"/>
                    <a:cs typeface="Calibri" pitchFamily="34" charset="-120"/>
                  </a:rPr>
                  <a:t>is exactly where the most interesting security research lives.</a:t>
                </a:r>
                <a:endParaRPr lang="en-US" sz="1100" dirty="0"/>
              </a:p>
            </p:txBody>
          </p:sp>
        </p:grpSp>
      </p:grpSp>
      <p:sp>
        <p:nvSpPr>
          <p:cNvPr id="19" name="Shape 15"/>
          <p:cNvSpPr/>
          <p:nvPr/>
        </p:nvSpPr>
        <p:spPr>
          <a:xfrm>
            <a:off x="4480560" y="804672"/>
            <a:ext cx="4315968" cy="2359152"/>
          </a:xfrm>
          <a:prstGeom prst="rect">
            <a:avLst/>
          </a:prstGeom>
          <a:solidFill>
            <a:srgbClr val="080F08"/>
          </a:solidFill>
          <a:ln w="12700">
            <a:solidFill>
              <a:srgbClr val="4A8A4A"/>
            </a:solidFill>
            <a:prstDash val="solid"/>
          </a:ln>
          <a:effectLst>
            <a:outerShdw blurRad="203200" dist="50800" dir="8100000" algn="bl" rotWithShape="0">
              <a:srgbClr val="000000">
                <a:alpha val="45000"/>
              </a:srgbClr>
            </a:outerShdw>
          </a:effectLst>
        </p:spPr>
        <p:txBody>
          <a:bodyPr/>
          <a:lstStyle/>
          <a:p>
            <a:endParaRPr lang="en-US"/>
          </a:p>
        </p:txBody>
      </p:sp>
      <p:sp>
        <p:nvSpPr>
          <p:cNvPr id="20" name="Shape 16"/>
          <p:cNvSpPr/>
          <p:nvPr/>
        </p:nvSpPr>
        <p:spPr>
          <a:xfrm>
            <a:off x="4480560" y="804672"/>
            <a:ext cx="4315968" cy="36576"/>
          </a:xfrm>
          <a:prstGeom prst="rect">
            <a:avLst/>
          </a:prstGeom>
          <a:solidFill>
            <a:srgbClr val="4A8A4A"/>
          </a:solidFill>
          <a:ln w="12700">
            <a:solidFill>
              <a:srgbClr val="4A8A4A"/>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4617720" y="877824"/>
            <a:ext cx="310896" cy="310896"/>
          </a:xfrm>
          <a:prstGeom prst="rect">
            <a:avLst/>
          </a:prstGeom>
        </p:spPr>
      </p:pic>
      <p:sp>
        <p:nvSpPr>
          <p:cNvPr id="22" name="Text 17"/>
          <p:cNvSpPr/>
          <p:nvPr/>
        </p:nvSpPr>
        <p:spPr>
          <a:xfrm>
            <a:off x="4983480" y="877824"/>
            <a:ext cx="3712464" cy="274320"/>
          </a:xfrm>
          <a:prstGeom prst="rect">
            <a:avLst/>
          </a:prstGeom>
          <a:noFill/>
          <a:ln/>
        </p:spPr>
        <p:txBody>
          <a:bodyPr wrap="square" lIns="0" tIns="0" rIns="0" bIns="0" rtlCol="0" anchor="ctr"/>
          <a:lstStyle/>
          <a:p>
            <a:pPr marL="0" indent="0">
              <a:buNone/>
            </a:pPr>
            <a:r>
              <a:rPr lang="en-US" sz="1150" b="1" dirty="0">
                <a:solidFill>
                  <a:srgbClr val="A0C4A0"/>
                </a:solidFill>
                <a:latin typeface="Trebuchet MS" pitchFamily="34" charset="0"/>
                <a:ea typeface="Trebuchet MS" pitchFamily="34" charset="-122"/>
                <a:cs typeface="Trebuchet MS" pitchFamily="34" charset="-120"/>
              </a:rPr>
              <a:t>What's Next — macOS  (Summer 2026)</a:t>
            </a:r>
            <a:endParaRPr lang="en-US" sz="1150" dirty="0"/>
          </a:p>
        </p:txBody>
      </p:sp>
      <p:sp>
        <p:nvSpPr>
          <p:cNvPr id="23" name="Text 18"/>
          <p:cNvSpPr/>
          <p:nvPr/>
        </p:nvSpPr>
        <p:spPr>
          <a:xfrm>
            <a:off x="4590288" y="1261872"/>
            <a:ext cx="4114800" cy="768096"/>
          </a:xfrm>
          <a:prstGeom prst="rect">
            <a:avLst/>
          </a:prstGeom>
          <a:noFill/>
          <a:ln/>
        </p:spPr>
        <p:txBody>
          <a:bodyPr wrap="square" lIns="0" tIns="0" rIns="0" bIns="0" rtlCol="0" anchor="ctr"/>
          <a:lstStyle/>
          <a:p>
            <a:pPr marL="0" indent="0">
              <a:buNone/>
            </a:pPr>
            <a:r>
              <a:rPr lang="en-US" sz="1000" dirty="0">
                <a:solidFill>
                  <a:srgbClr val="B8D4E8"/>
                </a:solidFill>
                <a:latin typeface="Calibri" pitchFamily="34" charset="0"/>
                <a:ea typeface="Calibri" pitchFamily="34" charset="-122"/>
                <a:cs typeface="Calibri" pitchFamily="34" charset="-120"/>
              </a:rPr>
              <a:t>Attempted briefly during this project. Hit a wall immediately — macOS uses the Endpoint Security framework, SIP, and strict codesigning. It is a completely different research problem that cannot be approached the same way as Windows or Linux.</a:t>
            </a:r>
            <a:endParaRPr lang="en-US" sz="1000" dirty="0"/>
          </a:p>
        </p:txBody>
      </p:sp>
      <p:sp>
        <p:nvSpPr>
          <p:cNvPr id="24" name="Shape 19"/>
          <p:cNvSpPr/>
          <p:nvPr/>
        </p:nvSpPr>
        <p:spPr>
          <a:xfrm>
            <a:off x="4590288" y="2103120"/>
            <a:ext cx="4114800" cy="822960"/>
          </a:xfrm>
          <a:prstGeom prst="rect">
            <a:avLst/>
          </a:prstGeom>
          <a:solidFill>
            <a:srgbClr val="0A1A0A"/>
          </a:solidFill>
          <a:ln w="12700">
            <a:solidFill>
              <a:srgbClr val="4A8A4A"/>
            </a:solidFill>
            <a:prstDash val="solid"/>
          </a:ln>
          <a:effectLst>
            <a:outerShdw blurRad="203200" dist="50800" dir="8100000" algn="bl" rotWithShape="0">
              <a:srgbClr val="000000">
                <a:alpha val="45000"/>
              </a:srgbClr>
            </a:outerShdw>
          </a:effectLst>
        </p:spPr>
        <p:txBody>
          <a:bodyPr/>
          <a:lstStyle/>
          <a:p>
            <a:endParaRPr lang="en-US"/>
          </a:p>
        </p:txBody>
      </p:sp>
      <p:sp>
        <p:nvSpPr>
          <p:cNvPr id="25" name="Text 20"/>
          <p:cNvSpPr/>
          <p:nvPr/>
        </p:nvSpPr>
        <p:spPr>
          <a:xfrm>
            <a:off x="4681728" y="2139696"/>
            <a:ext cx="3931920" cy="731520"/>
          </a:xfrm>
          <a:prstGeom prst="rect">
            <a:avLst/>
          </a:prstGeom>
          <a:noFill/>
          <a:ln/>
        </p:spPr>
        <p:txBody>
          <a:bodyPr wrap="square" lIns="0" tIns="0" rIns="0" bIns="0" rtlCol="0" anchor="ctr"/>
          <a:lstStyle/>
          <a:p>
            <a:pPr marL="0" indent="0">
              <a:buNone/>
            </a:pPr>
            <a:r>
              <a:rPr lang="en-US" sz="1000" dirty="0">
                <a:solidFill>
                  <a:srgbClr val="A0C4A0"/>
                </a:solidFill>
                <a:latin typeface="Calibri" pitchFamily="34" charset="0"/>
                <a:ea typeface="Calibri" pitchFamily="34" charset="-122"/>
                <a:cs typeface="Calibri" pitchFamily="34" charset="-120"/>
              </a:rPr>
              <a:t>Planned: Endpoint Security API  ·  macOS eBPF equivalent</a:t>
            </a:r>
            <a:endParaRPr lang="en-US" sz="1000" dirty="0"/>
          </a:p>
          <a:p>
            <a:pPr marL="0" indent="0">
              <a:buNone/>
            </a:pPr>
            <a:r>
              <a:rPr lang="en-US" sz="1000" dirty="0">
                <a:solidFill>
                  <a:srgbClr val="A0C4A0"/>
                </a:solidFill>
                <a:latin typeface="Calibri" pitchFamily="34" charset="0"/>
                <a:ea typeface="Calibri" pitchFamily="34" charset="-122"/>
                <a:cs typeface="Calibri" pitchFamily="34" charset="-120"/>
              </a:rPr>
              <a:t>Dedicated project — not an afterthought</a:t>
            </a:r>
            <a:endParaRPr lang="en-US" sz="1000" dirty="0"/>
          </a:p>
        </p:txBody>
      </p:sp>
      <p:sp>
        <p:nvSpPr>
          <p:cNvPr id="26" name="Shape 21"/>
          <p:cNvSpPr/>
          <p:nvPr/>
        </p:nvSpPr>
        <p:spPr>
          <a:xfrm>
            <a:off x="4480560" y="3291840"/>
            <a:ext cx="4315968" cy="1554480"/>
          </a:xfrm>
          <a:prstGeom prst="rect">
            <a:avLst/>
          </a:prstGeom>
          <a:solidFill>
            <a:srgbClr val="060D1C"/>
          </a:solidFill>
          <a:ln w="12700">
            <a:solidFill>
              <a:srgbClr val="00D4FF"/>
            </a:solidFill>
            <a:prstDash val="solid"/>
          </a:ln>
          <a:effectLst>
            <a:outerShdw blurRad="203200" dist="50800" dir="8100000" algn="bl" rotWithShape="0">
              <a:srgbClr val="000000">
                <a:alpha val="45000"/>
              </a:srgbClr>
            </a:outerShdw>
          </a:effectLst>
        </p:spPr>
        <p:txBody>
          <a:bodyPr/>
          <a:lstStyle/>
          <a:p>
            <a:endParaRPr lang="en-US" dirty="0"/>
          </a:p>
        </p:txBody>
      </p:sp>
      <p:sp>
        <p:nvSpPr>
          <p:cNvPr id="27" name="Shape 22"/>
          <p:cNvSpPr/>
          <p:nvPr/>
        </p:nvSpPr>
        <p:spPr>
          <a:xfrm>
            <a:off x="4480560" y="3291840"/>
            <a:ext cx="4315968" cy="36576"/>
          </a:xfrm>
          <a:prstGeom prst="rect">
            <a:avLst/>
          </a:prstGeom>
          <a:solidFill>
            <a:srgbClr val="00D4FF"/>
          </a:solidFill>
          <a:ln w="12700">
            <a:solidFill>
              <a:srgbClr val="00D4FF"/>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4617720" y="3383280"/>
            <a:ext cx="292608" cy="292608"/>
          </a:xfrm>
          <a:prstGeom prst="rect">
            <a:avLst/>
          </a:prstGeom>
        </p:spPr>
      </p:pic>
      <p:sp>
        <p:nvSpPr>
          <p:cNvPr id="29" name="Text 23"/>
          <p:cNvSpPr/>
          <p:nvPr/>
        </p:nvSpPr>
        <p:spPr>
          <a:xfrm>
            <a:off x="4956048" y="3383280"/>
            <a:ext cx="3639312" cy="274320"/>
          </a:xfrm>
          <a:prstGeom prst="rect">
            <a:avLst/>
          </a:prstGeom>
          <a:noFill/>
          <a:ln/>
        </p:spPr>
        <p:txBody>
          <a:bodyPr wrap="square" lIns="0" tIns="0" rIns="0" bIns="0" rtlCol="0" anchor="ctr"/>
          <a:lstStyle/>
          <a:p>
            <a:pPr marL="0" indent="0">
              <a:buNone/>
            </a:pPr>
            <a:r>
              <a:rPr lang="en-US" sz="1200" b="1" dirty="0">
                <a:solidFill>
                  <a:srgbClr val="00D4FF"/>
                </a:solidFill>
                <a:latin typeface="Trebuchet MS" pitchFamily="34" charset="0"/>
                <a:ea typeface="Trebuchet MS" pitchFamily="34" charset="-122"/>
                <a:cs typeface="Trebuchet MS" pitchFamily="34" charset="-120"/>
              </a:rPr>
              <a:t>Full Code GitHub</a:t>
            </a:r>
            <a:endParaRPr lang="en-US" sz="1200" dirty="0"/>
          </a:p>
        </p:txBody>
      </p:sp>
      <p:sp>
        <p:nvSpPr>
          <p:cNvPr id="30" name="Text 24"/>
          <p:cNvSpPr/>
          <p:nvPr/>
        </p:nvSpPr>
        <p:spPr>
          <a:xfrm>
            <a:off x="4617720" y="3749040"/>
            <a:ext cx="4160520" cy="1060704"/>
          </a:xfrm>
          <a:prstGeom prst="rect">
            <a:avLst/>
          </a:prstGeom>
          <a:noFill/>
          <a:ln/>
        </p:spPr>
        <p:txBody>
          <a:bodyPr wrap="square" lIns="0" tIns="0" rIns="0" bIns="0" rtlCol="0" anchor="ctr"/>
          <a:lstStyle/>
          <a:p>
            <a:pPr marL="0" indent="0">
              <a:buNone/>
            </a:pPr>
            <a:r>
              <a:rPr lang="en-US" sz="900" dirty="0">
                <a:solidFill>
                  <a:srgbClr val="B8D4E8"/>
                </a:solidFill>
                <a:latin typeface="Consolas" pitchFamily="34" charset="0"/>
                <a:ea typeface="Consolas" pitchFamily="34" charset="-122"/>
                <a:cs typeface="Consolas" pitchFamily="34" charset="-120"/>
              </a:rPr>
              <a:t>PhantomGuard.sys  ·  etw_tamper.cpp</a:t>
            </a:r>
            <a:endParaRPr lang="en-US" sz="900" dirty="0"/>
          </a:p>
          <a:p>
            <a:pPr marL="0" indent="0">
              <a:buNone/>
            </a:pPr>
            <a:r>
              <a:rPr lang="en-US" sz="900" dirty="0">
                <a:solidFill>
                  <a:srgbClr val="B8D4E8"/>
                </a:solidFill>
                <a:latin typeface="Consolas" pitchFamily="34" charset="0"/>
                <a:ea typeface="Consolas" pitchFamily="34" charset="-122"/>
                <a:cs typeface="Consolas" pitchFamily="34" charset="-120"/>
              </a:rPr>
              <a:t>cross_correlator.py  ·  12-test suite</a:t>
            </a:r>
            <a:endParaRPr lang="en-US" sz="900" dirty="0"/>
          </a:p>
          <a:p>
            <a:r>
              <a:rPr lang="en-US" sz="900" dirty="0">
                <a:solidFill>
                  <a:srgbClr val="B8D4E8"/>
                </a:solidFill>
                <a:latin typeface="Consolas" pitchFamily="34" charset="0"/>
                <a:ea typeface="Consolas" pitchFamily="34" charset="-122"/>
                <a:cs typeface="Consolas" pitchFamily="34" charset="-120"/>
              </a:rPr>
              <a:t>audit_monitor.py  ·  phantom_guard.bt</a:t>
            </a:r>
          </a:p>
          <a:p>
            <a:br>
              <a:rPr lang="en-US" sz="1050" b="1" dirty="0">
                <a:solidFill>
                  <a:srgbClr val="B8D4E8"/>
                </a:solidFill>
                <a:latin typeface="Consolas" pitchFamily="34" charset="0"/>
                <a:ea typeface="Consolas" pitchFamily="34" charset="-122"/>
                <a:cs typeface="Consolas" pitchFamily="34" charset="-120"/>
              </a:rPr>
            </a:br>
            <a:r>
              <a:rPr lang="en-US" sz="1050" b="1" dirty="0">
                <a:solidFill>
                  <a:srgbClr val="B8D4E8"/>
                </a:solidFill>
                <a:latin typeface="Consolas" pitchFamily="34" charset="0"/>
                <a:ea typeface="Consolas" pitchFamily="34" charset="-122"/>
                <a:cs typeface="Consolas" pitchFamily="34" charset="-120"/>
                <a:hlinkClick r:id="rId6"/>
              </a:rPr>
              <a:t>https://github.com/HeyPromaRoy/Secure-Operating-system.git</a:t>
            </a:r>
            <a:endParaRPr lang="en-US" sz="1050" b="1" dirty="0"/>
          </a:p>
        </p:txBody>
      </p:sp>
      <p:sp>
        <p:nvSpPr>
          <p:cNvPr id="34" name="Text 28"/>
          <p:cNvSpPr/>
          <p:nvPr/>
        </p:nvSpPr>
        <p:spPr>
          <a:xfrm>
            <a:off x="365760" y="4645152"/>
            <a:ext cx="8412480" cy="310896"/>
          </a:xfrm>
          <a:prstGeom prst="rect">
            <a:avLst/>
          </a:prstGeom>
          <a:noFill/>
          <a:ln/>
        </p:spPr>
        <p:txBody>
          <a:bodyPr wrap="square" lIns="0" tIns="0" rIns="0" bIns="0" rtlCol="0" anchor="ctr"/>
          <a:lstStyle/>
          <a:p>
            <a:pPr marL="0" indent="0" algn="ctr">
              <a:buNone/>
            </a:pPr>
            <a:endParaRPr lang="en-US" sz="950" dirty="0"/>
          </a:p>
        </p:txBody>
      </p:sp>
      <p:sp>
        <p:nvSpPr>
          <p:cNvPr id="16" name="Shape 12"/>
          <p:cNvSpPr/>
          <p:nvPr/>
        </p:nvSpPr>
        <p:spPr>
          <a:xfrm>
            <a:off x="475488" y="3495910"/>
            <a:ext cx="36576" cy="749808"/>
          </a:xfrm>
          <a:prstGeom prst="rect">
            <a:avLst/>
          </a:prstGeom>
          <a:solidFill>
            <a:srgbClr val="00D4FF"/>
          </a:solidFill>
          <a:ln w="12700">
            <a:solidFill>
              <a:srgbClr val="00D4FF"/>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2522</Words>
  <Application>Microsoft Office PowerPoint</Application>
  <PresentationFormat>On-screen Show (16:9)</PresentationFormat>
  <Paragraphs>243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Proma Roy</cp:lastModifiedBy>
  <cp:revision>8</cp:revision>
  <dcterms:created xsi:type="dcterms:W3CDTF">2026-05-06T02:04:20Z</dcterms:created>
  <dcterms:modified xsi:type="dcterms:W3CDTF">2026-05-06T20:32:34Z</dcterms:modified>
</cp:coreProperties>
</file>